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9" r:id="rId3"/>
    <p:sldId id="258" r:id="rId4"/>
    <p:sldId id="271" r:id="rId5"/>
    <p:sldId id="260" r:id="rId6"/>
    <p:sldId id="268" r:id="rId7"/>
    <p:sldId id="272" r:id="rId8"/>
    <p:sldId id="262" r:id="rId9"/>
    <p:sldId id="273" r:id="rId10"/>
    <p:sldId id="261" r:id="rId11"/>
    <p:sldId id="269" r:id="rId12"/>
    <p:sldId id="263" r:id="rId13"/>
    <p:sldId id="270" r:id="rId14"/>
    <p:sldId id="274" r:id="rId15"/>
    <p:sldId id="264" r:id="rId16"/>
    <p:sldId id="275" r:id="rId17"/>
    <p:sldId id="265" r:id="rId18"/>
    <p:sldId id="276" r:id="rId19"/>
    <p:sldId id="277" r:id="rId20"/>
    <p:sldId id="266" r:id="rId21"/>
    <p:sldId id="278" r:id="rId22"/>
    <p:sldId id="279" r:id="rId23"/>
    <p:sldId id="267" r:id="rId24"/>
    <p:sldId id="280" r:id="rId25"/>
    <p:sldId id="281" r:id="rId26"/>
    <p:sldId id="282" r:id="rId27"/>
    <p:sldId id="283" r:id="rId28"/>
    <p:sldId id="284" r:id="rId29"/>
    <p:sldId id="285" r:id="rId30"/>
    <p:sldId id="286" r:id="rId31"/>
    <p:sldId id="288"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C89"/>
    <a:srgbClr val="015DA4"/>
    <a:srgbClr val="006A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66"/>
    <p:restoredTop sz="73636"/>
  </p:normalViewPr>
  <p:slideViewPr>
    <p:cSldViewPr snapToGrid="0">
      <p:cViewPr>
        <p:scale>
          <a:sx n="143" d="100"/>
          <a:sy n="143" d="100"/>
        </p:scale>
        <p:origin x="1912" y="-10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10E13-D1C7-964A-90B5-165C46CD57FF}" type="datetimeFigureOut">
              <a:rPr lang="en-US" smtClean="0"/>
              <a:t>3/18/26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114D9E-1575-F845-ADE5-304DBEC1CD61}" type="slidenum">
              <a:rPr lang="en-US" smtClean="0"/>
              <a:t>‹#›</a:t>
            </a:fld>
            <a:endParaRPr lang="en-US"/>
          </a:p>
        </p:txBody>
      </p:sp>
    </p:spTree>
    <p:extLst>
      <p:ext uri="{BB962C8B-B14F-4D97-AF65-F5344CB8AC3E}">
        <p14:creationId xmlns:p14="http://schemas.microsoft.com/office/powerpoint/2010/main" val="1188406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microsoft.com/en-us/graph/api/resources/configurationsnapshotjob?view=graph-rest-beta&amp;preserve-view=tru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9443-94A5-CC61-BB55-96107BF13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FA31C-4413-FBFA-1015-F9D2373B4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07399-3B58-2313-AFA0-816EDEE0C7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D74CD4-1CFB-313A-42F0-3E480A0CC0FD}"/>
              </a:ext>
            </a:extLst>
          </p:cNvPr>
          <p:cNvSpPr>
            <a:spLocks noGrp="1"/>
          </p:cNvSpPr>
          <p:nvPr>
            <p:ph type="sldNum" sz="quarter" idx="5"/>
          </p:nvPr>
        </p:nvSpPr>
        <p:spPr/>
        <p:txBody>
          <a:bodyPr/>
          <a:lstStyle/>
          <a:p>
            <a:fld id="{E6114D9E-1575-F845-ADE5-304DBEC1CD61}" type="slidenum">
              <a:rPr lang="en-US" smtClean="0"/>
              <a:t>4</a:t>
            </a:fld>
            <a:endParaRPr lang="en-US"/>
          </a:p>
        </p:txBody>
      </p:sp>
    </p:spTree>
    <p:extLst>
      <p:ext uri="{BB962C8B-B14F-4D97-AF65-F5344CB8AC3E}">
        <p14:creationId xmlns:p14="http://schemas.microsoft.com/office/powerpoint/2010/main" val="1938916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 the Microsoft 365 ecosystem grows, keeping tenant settings aligned with the desired configuration of an organization becomes increasingly complex.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TCM APIs enable automated monitoring of tenant settings. You can ensure your configurations remain secure and consistent, and quickly identify any deviations from the desired state.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t>
            </a:r>
            <a:r>
              <a:rPr lang="en-US" sz="1200" b="0" i="0" u="none" strike="noStrike" kern="1200" dirty="0">
                <a:solidFill>
                  <a:schemeClr val="tx1"/>
                </a:solidFill>
                <a:effectLst/>
                <a:latin typeface="+mn-lt"/>
                <a:ea typeface="+mn-ea"/>
                <a:cs typeface="+mn-cs"/>
                <a:hlinkClick r:id="rId3"/>
              </a:rPr>
              <a:t>snapshot</a:t>
            </a:r>
            <a:r>
              <a:rPr lang="en-US" sz="1200" b="0" i="0" kern="1200" dirty="0">
                <a:solidFill>
                  <a:schemeClr val="tx1"/>
                </a:solidFill>
                <a:effectLst/>
                <a:latin typeface="+mn-lt"/>
                <a:ea typeface="+mn-ea"/>
                <a:cs typeface="+mn-cs"/>
              </a:rPr>
              <a:t> APIs in TCM simplify the process of retrieving the current configuration across multiple workloads within a tenant. Administrators can use these snapshots to get a clear, declarative view of how settings are currently applied, which makes audits, reviews, and troubleshooting much easier.</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Very similar to DSC</a:t>
            </a:r>
            <a:endParaRPr lang="en-US" dirty="0"/>
          </a:p>
        </p:txBody>
      </p:sp>
      <p:sp>
        <p:nvSpPr>
          <p:cNvPr id="4" name="Slide Number Placeholder 3"/>
          <p:cNvSpPr>
            <a:spLocks noGrp="1"/>
          </p:cNvSpPr>
          <p:nvPr>
            <p:ph type="sldNum" sz="quarter" idx="5"/>
          </p:nvPr>
        </p:nvSpPr>
        <p:spPr/>
        <p:txBody>
          <a:bodyPr/>
          <a:lstStyle/>
          <a:p>
            <a:fld id="{E6114D9E-1575-F845-ADE5-304DBEC1CD61}" type="slidenum">
              <a:rPr lang="en-US" smtClean="0"/>
              <a:t>5</a:t>
            </a:fld>
            <a:endParaRPr lang="en-US"/>
          </a:p>
        </p:txBody>
      </p:sp>
    </p:spTree>
    <p:extLst>
      <p:ext uri="{BB962C8B-B14F-4D97-AF65-F5344CB8AC3E}">
        <p14:creationId xmlns:p14="http://schemas.microsoft.com/office/powerpoint/2010/main" val="2661650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C136F-1A2E-5094-58C3-8593D823D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4FAD14-CCC9-E075-96FF-ED1F533DB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D61A1-6545-8A90-8694-F04B44E2CBD1}"/>
              </a:ext>
            </a:extLst>
          </p:cNvPr>
          <p:cNvSpPr>
            <a:spLocks noGrp="1"/>
          </p:cNvSpPr>
          <p:nvPr>
            <p:ph type="body" idx="1"/>
          </p:nvPr>
        </p:nvSpPr>
        <p:spPr/>
        <p:txBody>
          <a:bodyPr/>
          <a:lstStyle/>
          <a:p>
            <a:r>
              <a:rPr lang="en-US" dirty="0"/>
              <a:t>Microsoft DSC is a little more complex or involved but it also allows you to compare configurations of 2 or more tenants </a:t>
            </a:r>
          </a:p>
          <a:p>
            <a:endParaRPr lang="en-US" dirty="0"/>
          </a:p>
          <a:p>
            <a:endParaRPr lang="en-US" dirty="0"/>
          </a:p>
        </p:txBody>
      </p:sp>
      <p:sp>
        <p:nvSpPr>
          <p:cNvPr id="4" name="Slide Number Placeholder 3">
            <a:extLst>
              <a:ext uri="{FF2B5EF4-FFF2-40B4-BE49-F238E27FC236}">
                <a16:creationId xmlns:a16="http://schemas.microsoft.com/office/drawing/2014/main" id="{1F7DF171-65AA-74AE-5643-908355759A75}"/>
              </a:ext>
            </a:extLst>
          </p:cNvPr>
          <p:cNvSpPr>
            <a:spLocks noGrp="1"/>
          </p:cNvSpPr>
          <p:nvPr>
            <p:ph type="sldNum" sz="quarter" idx="5"/>
          </p:nvPr>
        </p:nvSpPr>
        <p:spPr/>
        <p:txBody>
          <a:bodyPr/>
          <a:lstStyle/>
          <a:p>
            <a:fld id="{E6114D9E-1575-F845-ADE5-304DBEC1CD61}" type="slidenum">
              <a:rPr lang="en-US" smtClean="0"/>
              <a:t>6</a:t>
            </a:fld>
            <a:endParaRPr lang="en-US"/>
          </a:p>
        </p:txBody>
      </p:sp>
    </p:spTree>
    <p:extLst>
      <p:ext uri="{BB962C8B-B14F-4D97-AF65-F5344CB8AC3E}">
        <p14:creationId xmlns:p14="http://schemas.microsoft.com/office/powerpoint/2010/main" val="3327437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CFA14-2B92-C825-0396-F768AEC8E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26ED1-6FDE-D209-302E-5B41ECD6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F30CF-6CED-3812-42EF-2C628054C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4495CF-2159-E7EC-3018-2060F03B7C59}"/>
              </a:ext>
            </a:extLst>
          </p:cNvPr>
          <p:cNvSpPr>
            <a:spLocks noGrp="1"/>
          </p:cNvSpPr>
          <p:nvPr>
            <p:ph type="sldNum" sz="quarter" idx="5"/>
          </p:nvPr>
        </p:nvSpPr>
        <p:spPr/>
        <p:txBody>
          <a:bodyPr/>
          <a:lstStyle/>
          <a:p>
            <a:fld id="{E6114D9E-1575-F845-ADE5-304DBEC1CD61}" type="slidenum">
              <a:rPr lang="en-US" smtClean="0"/>
              <a:t>7</a:t>
            </a:fld>
            <a:endParaRPr lang="en-US"/>
          </a:p>
        </p:txBody>
      </p:sp>
    </p:spTree>
    <p:extLst>
      <p:ext uri="{BB962C8B-B14F-4D97-AF65-F5344CB8AC3E}">
        <p14:creationId xmlns:p14="http://schemas.microsoft.com/office/powerpoint/2010/main" val="318109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https://</a:t>
            </a:r>
            <a:r>
              <a:rPr lang="en-US" sz="1200" b="0" kern="1200" dirty="0" err="1">
                <a:solidFill>
                  <a:schemeClr val="tx1"/>
                </a:solidFill>
                <a:effectLst/>
                <a:latin typeface="+mn-lt"/>
                <a:ea typeface="+mn-ea"/>
                <a:cs typeface="+mn-cs"/>
              </a:rPr>
              <a:t>graph.microsoft.com</a:t>
            </a:r>
            <a:r>
              <a:rPr lang="en-US" sz="1200" b="0" kern="1200" dirty="0">
                <a:solidFill>
                  <a:schemeClr val="tx1"/>
                </a:solidFill>
                <a:effectLst/>
                <a:latin typeface="+mn-lt"/>
                <a:ea typeface="+mn-ea"/>
                <a:cs typeface="+mn-cs"/>
              </a:rPr>
              <a:t>/beta</a:t>
            </a:r>
          </a:p>
          <a:p>
            <a:endParaRPr lang="en-US" dirty="0"/>
          </a:p>
        </p:txBody>
      </p:sp>
      <p:sp>
        <p:nvSpPr>
          <p:cNvPr id="4" name="Slide Number Placeholder 3"/>
          <p:cNvSpPr>
            <a:spLocks noGrp="1"/>
          </p:cNvSpPr>
          <p:nvPr>
            <p:ph type="sldNum" sz="quarter" idx="5"/>
          </p:nvPr>
        </p:nvSpPr>
        <p:spPr/>
        <p:txBody>
          <a:bodyPr/>
          <a:lstStyle/>
          <a:p>
            <a:fld id="{E6114D9E-1575-F845-ADE5-304DBEC1CD61}" type="slidenum">
              <a:rPr lang="en-US" smtClean="0"/>
              <a:t>8</a:t>
            </a:fld>
            <a:endParaRPr lang="en-US"/>
          </a:p>
        </p:txBody>
      </p:sp>
    </p:spTree>
    <p:extLst>
      <p:ext uri="{BB962C8B-B14F-4D97-AF65-F5344CB8AC3E}">
        <p14:creationId xmlns:p14="http://schemas.microsoft.com/office/powerpoint/2010/main" val="1771532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6B66-C4AE-30A6-7042-43F853D67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663B-7B6C-0982-9606-7FC9A65688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21EA82-2045-481F-175F-207F6A5D75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C18EE-82A3-46DD-CAE0-455CF5B2D5AE}"/>
              </a:ext>
            </a:extLst>
          </p:cNvPr>
          <p:cNvSpPr>
            <a:spLocks noGrp="1"/>
          </p:cNvSpPr>
          <p:nvPr>
            <p:ph type="sldNum" sz="quarter" idx="5"/>
          </p:nvPr>
        </p:nvSpPr>
        <p:spPr/>
        <p:txBody>
          <a:bodyPr/>
          <a:lstStyle/>
          <a:p>
            <a:fld id="{E6114D9E-1575-F845-ADE5-304DBEC1CD61}" type="slidenum">
              <a:rPr lang="en-US" smtClean="0"/>
              <a:t>9</a:t>
            </a:fld>
            <a:endParaRPr lang="en-US"/>
          </a:p>
        </p:txBody>
      </p:sp>
    </p:spTree>
    <p:extLst>
      <p:ext uri="{BB962C8B-B14F-4D97-AF65-F5344CB8AC3E}">
        <p14:creationId xmlns:p14="http://schemas.microsoft.com/office/powerpoint/2010/main" val="3171638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LETS ADD EXAMPLES TO EACH </a:t>
            </a:r>
          </a:p>
        </p:txBody>
      </p:sp>
      <p:sp>
        <p:nvSpPr>
          <p:cNvPr id="4" name="Slide Number Placeholder 3"/>
          <p:cNvSpPr>
            <a:spLocks noGrp="1"/>
          </p:cNvSpPr>
          <p:nvPr>
            <p:ph type="sldNum" sz="quarter" idx="5"/>
          </p:nvPr>
        </p:nvSpPr>
        <p:spPr/>
        <p:txBody>
          <a:bodyPr/>
          <a:lstStyle/>
          <a:p>
            <a:fld id="{E6114D9E-1575-F845-ADE5-304DBEC1CD61}" type="slidenum">
              <a:rPr lang="en-US" smtClean="0"/>
              <a:t>10</a:t>
            </a:fld>
            <a:endParaRPr lang="en-US"/>
          </a:p>
        </p:txBody>
      </p:sp>
    </p:spTree>
    <p:extLst>
      <p:ext uri="{BB962C8B-B14F-4D97-AF65-F5344CB8AC3E}">
        <p14:creationId xmlns:p14="http://schemas.microsoft.com/office/powerpoint/2010/main" val="2965328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5F16-BB8F-70D9-8B16-FBB365948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294AF-BE70-09D0-51BA-46D85F82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F55A5-F083-FA5F-3786-A0D934C5B6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8D884C-FD85-680C-3062-8BBA2FA74C6B}"/>
              </a:ext>
            </a:extLst>
          </p:cNvPr>
          <p:cNvSpPr>
            <a:spLocks noGrp="1"/>
          </p:cNvSpPr>
          <p:nvPr>
            <p:ph type="sldNum" sz="quarter" idx="5"/>
          </p:nvPr>
        </p:nvSpPr>
        <p:spPr/>
        <p:txBody>
          <a:bodyPr/>
          <a:lstStyle/>
          <a:p>
            <a:fld id="{E6114D9E-1575-F845-ADE5-304DBEC1CD61}" type="slidenum">
              <a:rPr lang="en-US" smtClean="0"/>
              <a:t>11</a:t>
            </a:fld>
            <a:endParaRPr lang="en-US"/>
          </a:p>
        </p:txBody>
      </p:sp>
    </p:spTree>
    <p:extLst>
      <p:ext uri="{BB962C8B-B14F-4D97-AF65-F5344CB8AC3E}">
        <p14:creationId xmlns:p14="http://schemas.microsoft.com/office/powerpoint/2010/main" val="1543854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E84A4-396C-D10A-6C1E-F292149FF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5C0FC-939F-DD3A-8978-5B3B60926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586D3-DF99-C31A-527E-E1BB08BBF7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FCC567-EB20-3523-8082-50331E25E872}"/>
              </a:ext>
            </a:extLst>
          </p:cNvPr>
          <p:cNvSpPr>
            <a:spLocks noGrp="1"/>
          </p:cNvSpPr>
          <p:nvPr>
            <p:ph type="sldNum" sz="quarter" idx="5"/>
          </p:nvPr>
        </p:nvSpPr>
        <p:spPr/>
        <p:txBody>
          <a:bodyPr/>
          <a:lstStyle/>
          <a:p>
            <a:fld id="{E6114D9E-1575-F845-ADE5-304DBEC1CD61}" type="slidenum">
              <a:rPr lang="en-US" smtClean="0"/>
              <a:t>12</a:t>
            </a:fld>
            <a:endParaRPr lang="en-US"/>
          </a:p>
        </p:txBody>
      </p:sp>
    </p:spTree>
    <p:extLst>
      <p:ext uri="{BB962C8B-B14F-4D97-AF65-F5344CB8AC3E}">
        <p14:creationId xmlns:p14="http://schemas.microsoft.com/office/powerpoint/2010/main" val="4160886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29D63-45EF-A891-38C2-15A1F15B0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0C87A-C1B3-77D3-5492-8B1554955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8F6A3-E303-1378-10FA-3E68B89754F3}"/>
              </a:ext>
            </a:extLst>
          </p:cNvPr>
          <p:cNvSpPr>
            <a:spLocks noGrp="1"/>
          </p:cNvSpPr>
          <p:nvPr>
            <p:ph type="body" idx="1"/>
          </p:nvPr>
        </p:nvSpPr>
        <p:spPr/>
        <p:txBody>
          <a:bodyPr/>
          <a:lstStyle/>
          <a:p>
            <a:r>
              <a:rPr lang="en-US" dirty="0"/>
              <a:t>Take a snapshot of my Entra User configuration including group membership </a:t>
            </a:r>
          </a:p>
          <a:p>
            <a:endParaRPr lang="en-US" dirty="0"/>
          </a:p>
        </p:txBody>
      </p:sp>
      <p:sp>
        <p:nvSpPr>
          <p:cNvPr id="4" name="Slide Number Placeholder 3">
            <a:extLst>
              <a:ext uri="{FF2B5EF4-FFF2-40B4-BE49-F238E27FC236}">
                <a16:creationId xmlns:a16="http://schemas.microsoft.com/office/drawing/2014/main" id="{A2659C1B-086C-AD07-9FB3-844327DD998D}"/>
              </a:ext>
            </a:extLst>
          </p:cNvPr>
          <p:cNvSpPr>
            <a:spLocks noGrp="1"/>
          </p:cNvSpPr>
          <p:nvPr>
            <p:ph type="sldNum" sz="quarter" idx="5"/>
          </p:nvPr>
        </p:nvSpPr>
        <p:spPr/>
        <p:txBody>
          <a:bodyPr/>
          <a:lstStyle/>
          <a:p>
            <a:fld id="{E6114D9E-1575-F845-ADE5-304DBEC1CD61}" type="slidenum">
              <a:rPr lang="en-US" smtClean="0"/>
              <a:t>13</a:t>
            </a:fld>
            <a:endParaRPr lang="en-US"/>
          </a:p>
        </p:txBody>
      </p:sp>
    </p:spTree>
    <p:extLst>
      <p:ext uri="{BB962C8B-B14F-4D97-AF65-F5344CB8AC3E}">
        <p14:creationId xmlns:p14="http://schemas.microsoft.com/office/powerpoint/2010/main" val="1996277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A184B-9B55-633F-4610-699AC721AE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AF5FF-32A0-B06C-BE5E-D80C5FAD3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45331E-6DAC-85C8-D390-A641117456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3CEF4D-A7F8-D6BB-31DC-242D8C5E031A}"/>
              </a:ext>
            </a:extLst>
          </p:cNvPr>
          <p:cNvSpPr>
            <a:spLocks noGrp="1"/>
          </p:cNvSpPr>
          <p:nvPr>
            <p:ph type="sldNum" sz="quarter" idx="5"/>
          </p:nvPr>
        </p:nvSpPr>
        <p:spPr/>
        <p:txBody>
          <a:bodyPr/>
          <a:lstStyle/>
          <a:p>
            <a:fld id="{E6114D9E-1575-F845-ADE5-304DBEC1CD61}" type="slidenum">
              <a:rPr lang="en-US" smtClean="0"/>
              <a:t>14</a:t>
            </a:fld>
            <a:endParaRPr lang="en-US"/>
          </a:p>
        </p:txBody>
      </p:sp>
    </p:spTree>
    <p:extLst>
      <p:ext uri="{BB962C8B-B14F-4D97-AF65-F5344CB8AC3E}">
        <p14:creationId xmlns:p14="http://schemas.microsoft.com/office/powerpoint/2010/main" val="3165544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84423-7E7A-E6D4-C699-A62A49C10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C40EC-592D-429A-CC78-F1E37412F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B265F-8515-406A-1B56-0269136C7514}"/>
              </a:ext>
            </a:extLst>
          </p:cNvPr>
          <p:cNvSpPr>
            <a:spLocks noGrp="1"/>
          </p:cNvSpPr>
          <p:nvPr>
            <p:ph type="body" idx="1"/>
          </p:nvPr>
        </p:nvSpPr>
        <p:spPr/>
        <p:txBody>
          <a:bodyPr/>
          <a:lstStyle/>
          <a:p>
            <a:r>
              <a:rPr lang="en-US" dirty="0"/>
              <a:t>https://</a:t>
            </a:r>
            <a:r>
              <a:rPr lang="en-US" dirty="0" err="1"/>
              <a:t>learn.microsoft.com</a:t>
            </a:r>
            <a:r>
              <a:rPr lang="en-US" dirty="0"/>
              <a:t>/</a:t>
            </a:r>
            <a:r>
              <a:rPr lang="en-US" dirty="0" err="1"/>
              <a:t>en</a:t>
            </a:r>
            <a:r>
              <a:rPr lang="en-US" dirty="0"/>
              <a:t>-us/graph/</a:t>
            </a:r>
            <a:r>
              <a:rPr lang="en-US" dirty="0" err="1"/>
              <a:t>api</a:t>
            </a:r>
            <a:r>
              <a:rPr lang="en-US" dirty="0"/>
              <a:t>/resources/</a:t>
            </a:r>
            <a:r>
              <a:rPr lang="en-US" dirty="0" err="1"/>
              <a:t>configurationbaseline?view</a:t>
            </a:r>
            <a:r>
              <a:rPr lang="en-US" dirty="0"/>
              <a:t>=graph-rest-beta</a:t>
            </a:r>
          </a:p>
        </p:txBody>
      </p:sp>
      <p:sp>
        <p:nvSpPr>
          <p:cNvPr id="4" name="Slide Number Placeholder 3">
            <a:extLst>
              <a:ext uri="{FF2B5EF4-FFF2-40B4-BE49-F238E27FC236}">
                <a16:creationId xmlns:a16="http://schemas.microsoft.com/office/drawing/2014/main" id="{1FA950A1-FE6C-8A28-8011-D3F11B056918}"/>
              </a:ext>
            </a:extLst>
          </p:cNvPr>
          <p:cNvSpPr>
            <a:spLocks noGrp="1"/>
          </p:cNvSpPr>
          <p:nvPr>
            <p:ph type="sldNum" sz="quarter" idx="5"/>
          </p:nvPr>
        </p:nvSpPr>
        <p:spPr/>
        <p:txBody>
          <a:bodyPr/>
          <a:lstStyle/>
          <a:p>
            <a:fld id="{E6114D9E-1575-F845-ADE5-304DBEC1CD61}" type="slidenum">
              <a:rPr lang="en-US" smtClean="0"/>
              <a:t>15</a:t>
            </a:fld>
            <a:endParaRPr lang="en-US"/>
          </a:p>
        </p:txBody>
      </p:sp>
    </p:spTree>
    <p:extLst>
      <p:ext uri="{BB962C8B-B14F-4D97-AF65-F5344CB8AC3E}">
        <p14:creationId xmlns:p14="http://schemas.microsoft.com/office/powerpoint/2010/main" val="712058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FF5E1-2EFB-D0B2-AFAD-B697C4A2B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8FC2B-84A8-B700-1682-5AEF40691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45A16-2D97-71A4-26C6-5B5B48B2F8C9}"/>
              </a:ext>
            </a:extLst>
          </p:cNvPr>
          <p:cNvSpPr>
            <a:spLocks noGrp="1"/>
          </p:cNvSpPr>
          <p:nvPr>
            <p:ph type="body" idx="1"/>
          </p:nvPr>
        </p:nvSpPr>
        <p:spPr/>
        <p:txBody>
          <a:bodyPr/>
          <a:lstStyle/>
          <a:p>
            <a:r>
              <a:rPr lang="en-US" dirty="0"/>
              <a:t>https://</a:t>
            </a:r>
            <a:r>
              <a:rPr lang="en-US" dirty="0" err="1"/>
              <a:t>learn.microsoft.com</a:t>
            </a:r>
            <a:r>
              <a:rPr lang="en-US" dirty="0"/>
              <a:t>/</a:t>
            </a:r>
            <a:r>
              <a:rPr lang="en-US" dirty="0" err="1"/>
              <a:t>en</a:t>
            </a:r>
            <a:r>
              <a:rPr lang="en-US" dirty="0"/>
              <a:t>-us/graph/</a:t>
            </a:r>
            <a:r>
              <a:rPr lang="en-US" dirty="0" err="1"/>
              <a:t>api</a:t>
            </a:r>
            <a:r>
              <a:rPr lang="en-US" dirty="0"/>
              <a:t>/resources/</a:t>
            </a:r>
            <a:r>
              <a:rPr lang="en-US" dirty="0" err="1"/>
              <a:t>configurationbaseline?view</a:t>
            </a:r>
            <a:r>
              <a:rPr lang="en-US" dirty="0"/>
              <a:t>=graph-rest-beta</a:t>
            </a:r>
          </a:p>
        </p:txBody>
      </p:sp>
      <p:sp>
        <p:nvSpPr>
          <p:cNvPr id="4" name="Slide Number Placeholder 3">
            <a:extLst>
              <a:ext uri="{FF2B5EF4-FFF2-40B4-BE49-F238E27FC236}">
                <a16:creationId xmlns:a16="http://schemas.microsoft.com/office/drawing/2014/main" id="{F723FF5F-6A22-D98F-371F-0211B2CEBBB8}"/>
              </a:ext>
            </a:extLst>
          </p:cNvPr>
          <p:cNvSpPr>
            <a:spLocks noGrp="1"/>
          </p:cNvSpPr>
          <p:nvPr>
            <p:ph type="sldNum" sz="quarter" idx="5"/>
          </p:nvPr>
        </p:nvSpPr>
        <p:spPr/>
        <p:txBody>
          <a:bodyPr/>
          <a:lstStyle/>
          <a:p>
            <a:fld id="{E6114D9E-1575-F845-ADE5-304DBEC1CD61}" type="slidenum">
              <a:rPr lang="en-US" smtClean="0"/>
              <a:t>16</a:t>
            </a:fld>
            <a:endParaRPr lang="en-US"/>
          </a:p>
        </p:txBody>
      </p:sp>
    </p:spTree>
    <p:extLst>
      <p:ext uri="{BB962C8B-B14F-4D97-AF65-F5344CB8AC3E}">
        <p14:creationId xmlns:p14="http://schemas.microsoft.com/office/powerpoint/2010/main" val="1032354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21ED-A91A-1D91-73E0-DDA66F195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384E5-CF8B-FAD7-4BC4-653E488D7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3D6D6-4683-43A6-F50A-8161A9865A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D10633-C83E-DE3B-51A8-066239801E47}"/>
              </a:ext>
            </a:extLst>
          </p:cNvPr>
          <p:cNvSpPr>
            <a:spLocks noGrp="1"/>
          </p:cNvSpPr>
          <p:nvPr>
            <p:ph type="sldNum" sz="quarter" idx="5"/>
          </p:nvPr>
        </p:nvSpPr>
        <p:spPr/>
        <p:txBody>
          <a:bodyPr/>
          <a:lstStyle/>
          <a:p>
            <a:fld id="{E6114D9E-1575-F845-ADE5-304DBEC1CD61}" type="slidenum">
              <a:rPr lang="en-US" smtClean="0"/>
              <a:t>17</a:t>
            </a:fld>
            <a:endParaRPr lang="en-US"/>
          </a:p>
        </p:txBody>
      </p:sp>
    </p:spTree>
    <p:extLst>
      <p:ext uri="{BB962C8B-B14F-4D97-AF65-F5344CB8AC3E}">
        <p14:creationId xmlns:p14="http://schemas.microsoft.com/office/powerpoint/2010/main" val="3916830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CE6E4-EF3A-FACD-DB24-851D06DDE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3006E-D518-C406-C6A6-9BB75B64C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69F6F-20DB-2BE6-A473-8BCDC3844A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32424B-DE0B-41E6-E73D-1E89C9E67DB0}"/>
              </a:ext>
            </a:extLst>
          </p:cNvPr>
          <p:cNvSpPr>
            <a:spLocks noGrp="1"/>
          </p:cNvSpPr>
          <p:nvPr>
            <p:ph type="sldNum" sz="quarter" idx="5"/>
          </p:nvPr>
        </p:nvSpPr>
        <p:spPr/>
        <p:txBody>
          <a:bodyPr/>
          <a:lstStyle/>
          <a:p>
            <a:fld id="{E6114D9E-1575-F845-ADE5-304DBEC1CD61}" type="slidenum">
              <a:rPr lang="en-US" smtClean="0"/>
              <a:t>18</a:t>
            </a:fld>
            <a:endParaRPr lang="en-US"/>
          </a:p>
        </p:txBody>
      </p:sp>
    </p:spTree>
    <p:extLst>
      <p:ext uri="{BB962C8B-B14F-4D97-AF65-F5344CB8AC3E}">
        <p14:creationId xmlns:p14="http://schemas.microsoft.com/office/powerpoint/2010/main" val="3047127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746D8-CF1F-0797-6B30-23C1B44C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1CFB7-EA2E-CC6C-2F44-C264732FE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2AD0E-8AF4-716A-5A97-D2E00048E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03CA9D-ABEB-9C85-1400-82772FAA5B60}"/>
              </a:ext>
            </a:extLst>
          </p:cNvPr>
          <p:cNvSpPr>
            <a:spLocks noGrp="1"/>
          </p:cNvSpPr>
          <p:nvPr>
            <p:ph type="sldNum" sz="quarter" idx="5"/>
          </p:nvPr>
        </p:nvSpPr>
        <p:spPr/>
        <p:txBody>
          <a:bodyPr/>
          <a:lstStyle/>
          <a:p>
            <a:fld id="{E6114D9E-1575-F845-ADE5-304DBEC1CD61}" type="slidenum">
              <a:rPr lang="en-US" smtClean="0"/>
              <a:t>19</a:t>
            </a:fld>
            <a:endParaRPr lang="en-US"/>
          </a:p>
        </p:txBody>
      </p:sp>
    </p:spTree>
    <p:extLst>
      <p:ext uri="{BB962C8B-B14F-4D97-AF65-F5344CB8AC3E}">
        <p14:creationId xmlns:p14="http://schemas.microsoft.com/office/powerpoint/2010/main" val="2073954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5FB0D-0FC6-B9C6-B954-CA98F9369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70C56-338C-7570-23B9-3A16D9B1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2E4B1-9288-1204-C791-DA3084062B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567EEB-B49C-B47C-DE09-3EF7AD246AF7}"/>
              </a:ext>
            </a:extLst>
          </p:cNvPr>
          <p:cNvSpPr>
            <a:spLocks noGrp="1"/>
          </p:cNvSpPr>
          <p:nvPr>
            <p:ph type="sldNum" sz="quarter" idx="5"/>
          </p:nvPr>
        </p:nvSpPr>
        <p:spPr/>
        <p:txBody>
          <a:bodyPr/>
          <a:lstStyle/>
          <a:p>
            <a:fld id="{E6114D9E-1575-F845-ADE5-304DBEC1CD61}" type="slidenum">
              <a:rPr lang="en-US" smtClean="0"/>
              <a:t>20</a:t>
            </a:fld>
            <a:endParaRPr lang="en-US"/>
          </a:p>
        </p:txBody>
      </p:sp>
    </p:spTree>
    <p:extLst>
      <p:ext uri="{BB962C8B-B14F-4D97-AF65-F5344CB8AC3E}">
        <p14:creationId xmlns:p14="http://schemas.microsoft.com/office/powerpoint/2010/main" val="2906922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6763-E390-7A25-4818-6BCBC962C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F361F-164E-CC55-78CF-144108D24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C3559-CF0A-843A-3DB2-C2AC8AC0FD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75FE6-B4AC-758B-C323-D6DF23096D04}"/>
              </a:ext>
            </a:extLst>
          </p:cNvPr>
          <p:cNvSpPr>
            <a:spLocks noGrp="1"/>
          </p:cNvSpPr>
          <p:nvPr>
            <p:ph type="sldNum" sz="quarter" idx="5"/>
          </p:nvPr>
        </p:nvSpPr>
        <p:spPr/>
        <p:txBody>
          <a:bodyPr/>
          <a:lstStyle/>
          <a:p>
            <a:fld id="{E6114D9E-1575-F845-ADE5-304DBEC1CD61}" type="slidenum">
              <a:rPr lang="en-US" smtClean="0"/>
              <a:t>21</a:t>
            </a:fld>
            <a:endParaRPr lang="en-US"/>
          </a:p>
        </p:txBody>
      </p:sp>
    </p:spTree>
    <p:extLst>
      <p:ext uri="{BB962C8B-B14F-4D97-AF65-F5344CB8AC3E}">
        <p14:creationId xmlns:p14="http://schemas.microsoft.com/office/powerpoint/2010/main" val="13813632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2F3D9-8F82-42A2-089C-79DFE4204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B9F23-30A4-FA04-A822-BD39EB1783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05168-BFBE-94E6-B5E3-C4EBDDBAC9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A07EC1-CDF3-E1CF-CB1B-0821C49EB18C}"/>
              </a:ext>
            </a:extLst>
          </p:cNvPr>
          <p:cNvSpPr>
            <a:spLocks noGrp="1"/>
          </p:cNvSpPr>
          <p:nvPr>
            <p:ph type="sldNum" sz="quarter" idx="5"/>
          </p:nvPr>
        </p:nvSpPr>
        <p:spPr/>
        <p:txBody>
          <a:bodyPr/>
          <a:lstStyle/>
          <a:p>
            <a:fld id="{E6114D9E-1575-F845-ADE5-304DBEC1CD61}" type="slidenum">
              <a:rPr lang="en-US" smtClean="0"/>
              <a:t>22</a:t>
            </a:fld>
            <a:endParaRPr lang="en-US"/>
          </a:p>
        </p:txBody>
      </p:sp>
    </p:spTree>
    <p:extLst>
      <p:ext uri="{BB962C8B-B14F-4D97-AF65-F5344CB8AC3E}">
        <p14:creationId xmlns:p14="http://schemas.microsoft.com/office/powerpoint/2010/main" val="4149053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B73D-6F92-CF5D-3483-0B7AA6578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145FD-F6A1-2A9B-BB9C-AB8886E4A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E4A09-5DA8-2E31-9B25-A7BEDB5169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A9D3F9-29AC-954B-B6DC-0B9731ED0A21}"/>
              </a:ext>
            </a:extLst>
          </p:cNvPr>
          <p:cNvSpPr>
            <a:spLocks noGrp="1"/>
          </p:cNvSpPr>
          <p:nvPr>
            <p:ph type="sldNum" sz="quarter" idx="5"/>
          </p:nvPr>
        </p:nvSpPr>
        <p:spPr/>
        <p:txBody>
          <a:bodyPr/>
          <a:lstStyle/>
          <a:p>
            <a:fld id="{E6114D9E-1575-F845-ADE5-304DBEC1CD61}" type="slidenum">
              <a:rPr lang="en-US" smtClean="0"/>
              <a:t>23</a:t>
            </a:fld>
            <a:endParaRPr lang="en-US"/>
          </a:p>
        </p:txBody>
      </p:sp>
    </p:spTree>
    <p:extLst>
      <p:ext uri="{BB962C8B-B14F-4D97-AF65-F5344CB8AC3E}">
        <p14:creationId xmlns:p14="http://schemas.microsoft.com/office/powerpoint/2010/main" val="1948596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D1EF2-D1DD-A8EB-B138-DEC7FA2AA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8E36B-3F2F-FE5C-AABC-DC4B16B9E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E73A4-7ED1-E0A4-D6D3-E32208442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7BA40D-C5DE-94D4-5CE8-CFDB1B528508}"/>
              </a:ext>
            </a:extLst>
          </p:cNvPr>
          <p:cNvSpPr>
            <a:spLocks noGrp="1"/>
          </p:cNvSpPr>
          <p:nvPr>
            <p:ph type="sldNum" sz="quarter" idx="5"/>
          </p:nvPr>
        </p:nvSpPr>
        <p:spPr/>
        <p:txBody>
          <a:bodyPr/>
          <a:lstStyle/>
          <a:p>
            <a:fld id="{E6114D9E-1575-F845-ADE5-304DBEC1CD61}" type="slidenum">
              <a:rPr lang="en-US" smtClean="0"/>
              <a:t>24</a:t>
            </a:fld>
            <a:endParaRPr lang="en-US"/>
          </a:p>
        </p:txBody>
      </p:sp>
    </p:spTree>
    <p:extLst>
      <p:ext uri="{BB962C8B-B14F-4D97-AF65-F5344CB8AC3E}">
        <p14:creationId xmlns:p14="http://schemas.microsoft.com/office/powerpoint/2010/main" val="3455469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AE92-6BF7-5322-F381-2AF1953D9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1BF08-CC62-E115-761B-639C86512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CDBF7-A21D-EB78-B8C9-72C752D363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94CBC-28D0-1A31-6938-43744C9CE8CD}"/>
              </a:ext>
            </a:extLst>
          </p:cNvPr>
          <p:cNvSpPr>
            <a:spLocks noGrp="1"/>
          </p:cNvSpPr>
          <p:nvPr>
            <p:ph type="sldNum" sz="quarter" idx="5"/>
          </p:nvPr>
        </p:nvSpPr>
        <p:spPr/>
        <p:txBody>
          <a:bodyPr/>
          <a:lstStyle/>
          <a:p>
            <a:fld id="{E6114D9E-1575-F845-ADE5-304DBEC1CD61}" type="slidenum">
              <a:rPr lang="en-US" smtClean="0"/>
              <a:t>25</a:t>
            </a:fld>
            <a:endParaRPr lang="en-US"/>
          </a:p>
        </p:txBody>
      </p:sp>
    </p:spTree>
    <p:extLst>
      <p:ext uri="{BB962C8B-B14F-4D97-AF65-F5344CB8AC3E}">
        <p14:creationId xmlns:p14="http://schemas.microsoft.com/office/powerpoint/2010/main" val="2134908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6F906-8463-12DB-64B0-A4733D7DE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C853D-A733-911D-93EB-5DD04A78B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CB9C2-A4D7-E37E-F262-95C67AD506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E8A2F6-4474-55A8-B1F3-4AD9CE29282B}"/>
              </a:ext>
            </a:extLst>
          </p:cNvPr>
          <p:cNvSpPr>
            <a:spLocks noGrp="1"/>
          </p:cNvSpPr>
          <p:nvPr>
            <p:ph type="sldNum" sz="quarter" idx="5"/>
          </p:nvPr>
        </p:nvSpPr>
        <p:spPr/>
        <p:txBody>
          <a:bodyPr/>
          <a:lstStyle/>
          <a:p>
            <a:fld id="{E6114D9E-1575-F845-ADE5-304DBEC1CD61}" type="slidenum">
              <a:rPr lang="en-US" smtClean="0"/>
              <a:t>26</a:t>
            </a:fld>
            <a:endParaRPr lang="en-US"/>
          </a:p>
        </p:txBody>
      </p:sp>
    </p:spTree>
    <p:extLst>
      <p:ext uri="{BB962C8B-B14F-4D97-AF65-F5344CB8AC3E}">
        <p14:creationId xmlns:p14="http://schemas.microsoft.com/office/powerpoint/2010/main" val="1075924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8A2B-1491-06DD-115E-EB9BA0957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55240-56A8-E931-5C82-7C6D728BA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151B0-E38F-C936-59AE-12F06971B1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98F314-5C78-08B5-950F-B8704EC2130E}"/>
              </a:ext>
            </a:extLst>
          </p:cNvPr>
          <p:cNvSpPr>
            <a:spLocks noGrp="1"/>
          </p:cNvSpPr>
          <p:nvPr>
            <p:ph type="sldNum" sz="quarter" idx="5"/>
          </p:nvPr>
        </p:nvSpPr>
        <p:spPr/>
        <p:txBody>
          <a:bodyPr/>
          <a:lstStyle/>
          <a:p>
            <a:fld id="{E6114D9E-1575-F845-ADE5-304DBEC1CD61}" type="slidenum">
              <a:rPr lang="en-US" smtClean="0"/>
              <a:t>27</a:t>
            </a:fld>
            <a:endParaRPr lang="en-US"/>
          </a:p>
        </p:txBody>
      </p:sp>
    </p:spTree>
    <p:extLst>
      <p:ext uri="{BB962C8B-B14F-4D97-AF65-F5344CB8AC3E}">
        <p14:creationId xmlns:p14="http://schemas.microsoft.com/office/powerpoint/2010/main" val="2592053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4686-B2CB-E2CB-03F2-FCF4F0C06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1353A-59C4-322F-26CE-A31F43728F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6F5B8-5055-29D4-CE21-38A72F04A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B3B603-326B-F817-812A-D1CCD8A9E211}"/>
              </a:ext>
            </a:extLst>
          </p:cNvPr>
          <p:cNvSpPr>
            <a:spLocks noGrp="1"/>
          </p:cNvSpPr>
          <p:nvPr>
            <p:ph type="sldNum" sz="quarter" idx="5"/>
          </p:nvPr>
        </p:nvSpPr>
        <p:spPr/>
        <p:txBody>
          <a:bodyPr/>
          <a:lstStyle/>
          <a:p>
            <a:fld id="{E6114D9E-1575-F845-ADE5-304DBEC1CD61}" type="slidenum">
              <a:rPr lang="en-US" smtClean="0"/>
              <a:t>28</a:t>
            </a:fld>
            <a:endParaRPr lang="en-US"/>
          </a:p>
        </p:txBody>
      </p:sp>
    </p:spTree>
    <p:extLst>
      <p:ext uri="{BB962C8B-B14F-4D97-AF65-F5344CB8AC3E}">
        <p14:creationId xmlns:p14="http://schemas.microsoft.com/office/powerpoint/2010/main" val="12012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2D83-A081-AFC6-6BC8-DB6B29DB7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EA927-7F2B-64E7-355B-37E5AA9C18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C8DF3-7FC3-4651-379E-C5DFDF3608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94BF93-C5B6-17EF-0825-4FBA48C2ED0F}"/>
              </a:ext>
            </a:extLst>
          </p:cNvPr>
          <p:cNvSpPr>
            <a:spLocks noGrp="1"/>
          </p:cNvSpPr>
          <p:nvPr>
            <p:ph type="sldNum" sz="quarter" idx="5"/>
          </p:nvPr>
        </p:nvSpPr>
        <p:spPr/>
        <p:txBody>
          <a:bodyPr/>
          <a:lstStyle/>
          <a:p>
            <a:fld id="{E6114D9E-1575-F845-ADE5-304DBEC1CD61}" type="slidenum">
              <a:rPr lang="en-US" smtClean="0"/>
              <a:t>29</a:t>
            </a:fld>
            <a:endParaRPr lang="en-US"/>
          </a:p>
        </p:txBody>
      </p:sp>
    </p:spTree>
    <p:extLst>
      <p:ext uri="{BB962C8B-B14F-4D97-AF65-F5344CB8AC3E}">
        <p14:creationId xmlns:p14="http://schemas.microsoft.com/office/powerpoint/2010/main" val="2485037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97AFC-FF06-E2BF-E125-0A24486FB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C1F92-0F8B-9403-BDC1-BF895A703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9CE2A-B1E3-D423-CCCD-17F0F46116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F92D85-6D2C-F4EC-451F-BC6E104D14C2}"/>
              </a:ext>
            </a:extLst>
          </p:cNvPr>
          <p:cNvSpPr>
            <a:spLocks noGrp="1"/>
          </p:cNvSpPr>
          <p:nvPr>
            <p:ph type="sldNum" sz="quarter" idx="5"/>
          </p:nvPr>
        </p:nvSpPr>
        <p:spPr/>
        <p:txBody>
          <a:bodyPr/>
          <a:lstStyle/>
          <a:p>
            <a:fld id="{E6114D9E-1575-F845-ADE5-304DBEC1CD61}" type="slidenum">
              <a:rPr lang="en-US" smtClean="0"/>
              <a:t>30</a:t>
            </a:fld>
            <a:endParaRPr lang="en-US"/>
          </a:p>
        </p:txBody>
      </p:sp>
    </p:spTree>
    <p:extLst>
      <p:ext uri="{BB962C8B-B14F-4D97-AF65-F5344CB8AC3E}">
        <p14:creationId xmlns:p14="http://schemas.microsoft.com/office/powerpoint/2010/main" val="2422340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AC1A-795D-293A-F4ED-A450C6D20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D300E-52B6-DD33-FC9A-01E6A68FA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1A5FD-4A32-02A5-F409-D2039AD77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05C591-74D7-A117-9C5B-353AF7FF9515}"/>
              </a:ext>
            </a:extLst>
          </p:cNvPr>
          <p:cNvSpPr>
            <a:spLocks noGrp="1"/>
          </p:cNvSpPr>
          <p:nvPr>
            <p:ph type="sldNum" sz="quarter" idx="5"/>
          </p:nvPr>
        </p:nvSpPr>
        <p:spPr/>
        <p:txBody>
          <a:bodyPr/>
          <a:lstStyle/>
          <a:p>
            <a:fld id="{E6114D9E-1575-F845-ADE5-304DBEC1CD61}" type="slidenum">
              <a:rPr lang="en-US" smtClean="0"/>
              <a:t>31</a:t>
            </a:fld>
            <a:endParaRPr lang="en-US"/>
          </a:p>
        </p:txBody>
      </p:sp>
    </p:spTree>
    <p:extLst>
      <p:ext uri="{BB962C8B-B14F-4D97-AF65-F5344CB8AC3E}">
        <p14:creationId xmlns:p14="http://schemas.microsoft.com/office/powerpoint/2010/main" val="11817294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C111-E2F3-8461-4D67-416CF8662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BDEE5-EA9F-E4D3-C465-812372A74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9D6C5-9023-F54B-254D-28A8FCAA7A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143470-BA61-31C4-153A-4602313FEB44}"/>
              </a:ext>
            </a:extLst>
          </p:cNvPr>
          <p:cNvSpPr>
            <a:spLocks noGrp="1"/>
          </p:cNvSpPr>
          <p:nvPr>
            <p:ph type="sldNum" sz="quarter" idx="5"/>
          </p:nvPr>
        </p:nvSpPr>
        <p:spPr/>
        <p:txBody>
          <a:bodyPr/>
          <a:lstStyle/>
          <a:p>
            <a:fld id="{E6114D9E-1575-F845-ADE5-304DBEC1CD61}" type="slidenum">
              <a:rPr lang="en-US" smtClean="0"/>
              <a:t>32</a:t>
            </a:fld>
            <a:endParaRPr lang="en-US"/>
          </a:p>
        </p:txBody>
      </p:sp>
    </p:spTree>
    <p:extLst>
      <p:ext uri="{BB962C8B-B14F-4D97-AF65-F5344CB8AC3E}">
        <p14:creationId xmlns:p14="http://schemas.microsoft.com/office/powerpoint/2010/main" val="15824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06EA-9371-A48B-2A49-A4C28A762D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48AB0F-5799-69CF-D42A-142E1C5A4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CA8C96-CCA7-7FEE-6588-E28089E2EDE9}"/>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63BC69C3-861B-D886-F22E-56B4CFC8C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5F414-B819-EF04-63D7-15289EE19125}"/>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31935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2986A-370B-DB54-DDB4-F6202435CA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265DF0-6779-5754-1E10-F2F823A998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993BE-CD4E-2F23-02C0-D8C6647B54F1}"/>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9A3118C9-DA95-1811-B993-8E11474862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B7F548-A1F5-494F-BB47-E89419C324DE}"/>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4144946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2F6FC-C67D-57B3-B3AF-A58E797581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BC0017-2F18-BB94-BD16-D4D96AA443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346253-3652-7017-0854-19F16308B096}"/>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7E45A753-F980-6CA3-548B-82F32CA87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773BC-6196-279D-4F06-C2D61BC94E29}"/>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1099030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D3D5-302B-7284-DBE8-3BA41D3835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5AF7C1-F405-4952-95C9-8F5C3D55E9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499EF6-F462-AC1E-1F15-F407A990FB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98C32A-B822-87BE-D39F-E38494095479}"/>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6" name="Footer Placeholder 5">
            <a:extLst>
              <a:ext uri="{FF2B5EF4-FFF2-40B4-BE49-F238E27FC236}">
                <a16:creationId xmlns:a16="http://schemas.microsoft.com/office/drawing/2014/main" id="{689B9A71-66B7-9EA1-F9A4-0A0C83CCCA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7C3524-434E-9C4E-4E04-91A9CDB50FA0}"/>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3990685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5E8C-6F56-2A3C-7E9E-3F291210E0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9A8639-24F5-63F4-AF93-5E3B8EBF2B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4D05EB-0A5F-3C73-B6AB-9F54A53961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6AE77D-4F45-686E-6C61-625001FA77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A77531-A407-3524-6AE7-D7211BC9CA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D0297A-6283-7B48-5AF6-1DAE4C4928FA}"/>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8" name="Footer Placeholder 7">
            <a:extLst>
              <a:ext uri="{FF2B5EF4-FFF2-40B4-BE49-F238E27FC236}">
                <a16:creationId xmlns:a16="http://schemas.microsoft.com/office/drawing/2014/main" id="{93097DB8-1567-942D-3B90-6EEA1C95D3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326376-8F22-EE1E-03F8-644FC30E8B6A}"/>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1802535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A7558-FD7B-01A7-02FC-9FE02F0FBA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040169-E720-3874-D4D6-C8F420A403DF}"/>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4" name="Footer Placeholder 3">
            <a:extLst>
              <a:ext uri="{FF2B5EF4-FFF2-40B4-BE49-F238E27FC236}">
                <a16:creationId xmlns:a16="http://schemas.microsoft.com/office/drawing/2014/main" id="{261A77FC-4592-0F89-13F7-0F552DB322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5E89F5-C185-2D8A-26C0-E8326323EC20}"/>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1093073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02AA-3EFA-8D11-CC80-7F05121E3ED6}"/>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3" name="Footer Placeholder 2">
            <a:extLst>
              <a:ext uri="{FF2B5EF4-FFF2-40B4-BE49-F238E27FC236}">
                <a16:creationId xmlns:a16="http://schemas.microsoft.com/office/drawing/2014/main" id="{7074E544-829D-6D64-8450-C63D82C6BF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D02B8-DC42-B249-0661-CC768558E8D5}"/>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3266050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9DE6-B647-D775-87D4-A32C2597C3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C85714-27DD-96AA-4AD0-81E0614C6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56FEC2-903B-E4F5-AB74-3DDB69FF9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61955C-50E3-020E-BFBB-94F768B018DE}"/>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6" name="Footer Placeholder 5">
            <a:extLst>
              <a:ext uri="{FF2B5EF4-FFF2-40B4-BE49-F238E27FC236}">
                <a16:creationId xmlns:a16="http://schemas.microsoft.com/office/drawing/2014/main" id="{E6E44005-9CD9-D90C-81FD-AB683C6DD3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EA390-92B4-A03D-D4E4-430C38B27AC5}"/>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2442531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465FF-B234-4784-5D9C-651DE463D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0F4EBA-D482-903B-4B42-50183DE55F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AA79A8-F076-8FB9-C565-2B114A1CD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99818A-2C20-DA1B-CC03-91F7F8F226D7}"/>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6" name="Footer Placeholder 5">
            <a:extLst>
              <a:ext uri="{FF2B5EF4-FFF2-40B4-BE49-F238E27FC236}">
                <a16:creationId xmlns:a16="http://schemas.microsoft.com/office/drawing/2014/main" id="{248071BD-D3B0-A16E-70B0-43495A89F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191D22-C338-92AA-948E-D9EA8296B103}"/>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881770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BA3FC-2418-6C72-6E95-4870607E08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2E23A5-A599-B63E-6C7F-4253D4EADE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76A7-DD72-9578-13AF-C0BF5014FB99}"/>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59C850B1-89F6-67D5-F3FF-8C3E90EF56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8623A-9E90-ECFE-EE46-F6237B93204C}"/>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2541950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BB8B54-2C95-45DD-59E8-AE7445A982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5CC1CC-A346-4EC6-D678-AB0855BAC9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2F0206-D1C1-224D-33EC-C8F7C905D144}"/>
              </a:ext>
            </a:extLst>
          </p:cNvPr>
          <p:cNvSpPr>
            <a:spLocks noGrp="1"/>
          </p:cNvSpPr>
          <p:nvPr>
            <p:ph type="dt" sz="half" idx="10"/>
          </p:nvPr>
        </p:nvSpPr>
        <p:spPr/>
        <p:txBody>
          <a:body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0E4C58D7-BCAC-5064-3A1B-68139441A8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ECC48-9BD8-F679-02FC-3BBADA370FA1}"/>
              </a:ext>
            </a:extLst>
          </p:cNvPr>
          <p:cNvSpPr>
            <a:spLocks noGrp="1"/>
          </p:cNvSpPr>
          <p:nvPr>
            <p:ph type="sldNum" sz="quarter" idx="12"/>
          </p:nvPr>
        </p:nvSpPr>
        <p:spPr/>
        <p:txBody>
          <a:bodyPr/>
          <a:lstStyle/>
          <a:p>
            <a:fld id="{1D7C80DD-9BA6-5348-9520-7C3EA6770FF1}" type="slidenum">
              <a:rPr lang="en-US" smtClean="0"/>
              <a:t>‹#›</a:t>
            </a:fld>
            <a:endParaRPr lang="en-US"/>
          </a:p>
        </p:txBody>
      </p:sp>
    </p:spTree>
    <p:extLst>
      <p:ext uri="{BB962C8B-B14F-4D97-AF65-F5344CB8AC3E}">
        <p14:creationId xmlns:p14="http://schemas.microsoft.com/office/powerpoint/2010/main" val="282535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A6BAF7-E145-9F6E-7E3B-C70ABA468D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F476C8-7447-4348-1512-8F2150ED83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CD369D-DA4B-2509-EAD5-E5CAD7EBF5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50AEB7-BDEA-C142-ADE3-6BCC07DF2278}" type="datetimeFigureOut">
              <a:rPr lang="en-US" smtClean="0"/>
              <a:t>3/18/26</a:t>
            </a:fld>
            <a:endParaRPr lang="en-US"/>
          </a:p>
        </p:txBody>
      </p:sp>
      <p:sp>
        <p:nvSpPr>
          <p:cNvPr id="5" name="Footer Placeholder 4">
            <a:extLst>
              <a:ext uri="{FF2B5EF4-FFF2-40B4-BE49-F238E27FC236}">
                <a16:creationId xmlns:a16="http://schemas.microsoft.com/office/drawing/2014/main" id="{4D86E312-ED3C-38B9-CC3A-06A9023476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928155-2376-F233-2873-30F2557DF1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7C80DD-9BA6-5348-9520-7C3EA6770FF1}" type="slidenum">
              <a:rPr lang="en-US" smtClean="0"/>
              <a:t>‹#›</a:t>
            </a:fld>
            <a:endParaRPr lang="en-US"/>
          </a:p>
        </p:txBody>
      </p:sp>
    </p:spTree>
    <p:extLst>
      <p:ext uri="{BB962C8B-B14F-4D97-AF65-F5344CB8AC3E}">
        <p14:creationId xmlns:p14="http://schemas.microsoft.com/office/powerpoint/2010/main" val="2554024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graph.microsoft.com/beta"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l="-49000" r="-3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26FDA-99E9-24EA-89A7-07A1104D5593}"/>
              </a:ext>
            </a:extLst>
          </p:cNvPr>
          <p:cNvSpPr>
            <a:spLocks noGrp="1"/>
          </p:cNvSpPr>
          <p:nvPr>
            <p:ph type="ctrTitle"/>
          </p:nvPr>
        </p:nvSpPr>
        <p:spPr>
          <a:xfrm>
            <a:off x="402020" y="1408953"/>
            <a:ext cx="6455980" cy="2387600"/>
          </a:xfrm>
        </p:spPr>
        <p:txBody>
          <a:bodyPr>
            <a:noAutofit/>
          </a:bodyPr>
          <a:lstStyle/>
          <a:p>
            <a:r>
              <a:rPr lang="en-US" sz="4400" dirty="0">
                <a:solidFill>
                  <a:srgbClr val="014C89"/>
                </a:solidFill>
              </a:rPr>
              <a:t>Unified Tenant Configuration Management APIs in Microsoft Graph</a:t>
            </a:r>
          </a:p>
        </p:txBody>
      </p:sp>
      <p:sp>
        <p:nvSpPr>
          <p:cNvPr id="15" name="TextBox 14">
            <a:extLst>
              <a:ext uri="{FF2B5EF4-FFF2-40B4-BE49-F238E27FC236}">
                <a16:creationId xmlns:a16="http://schemas.microsoft.com/office/drawing/2014/main" id="{82545985-DA8A-35C6-26C8-025DAF204675}"/>
              </a:ext>
            </a:extLst>
          </p:cNvPr>
          <p:cNvSpPr txBox="1"/>
          <p:nvPr/>
        </p:nvSpPr>
        <p:spPr>
          <a:xfrm>
            <a:off x="2078796" y="4556095"/>
            <a:ext cx="1559466" cy="369332"/>
          </a:xfrm>
          <a:prstGeom prst="rect">
            <a:avLst/>
          </a:prstGeom>
          <a:noFill/>
          <a:ln>
            <a:solidFill>
              <a:srgbClr val="014C89"/>
            </a:solidFill>
          </a:ln>
        </p:spPr>
        <p:txBody>
          <a:bodyPr wrap="none" rtlCol="0">
            <a:spAutoFit/>
          </a:bodyPr>
          <a:lstStyle/>
          <a:p>
            <a:r>
              <a:rPr lang="en-US" dirty="0">
                <a:solidFill>
                  <a:srgbClr val="014C89"/>
                </a:solidFill>
              </a:rPr>
              <a:t>Bradley Wyatt</a:t>
            </a:r>
          </a:p>
        </p:txBody>
      </p:sp>
      <p:cxnSp>
        <p:nvCxnSpPr>
          <p:cNvPr id="17" name="Straight Connector 16">
            <a:extLst>
              <a:ext uri="{FF2B5EF4-FFF2-40B4-BE49-F238E27FC236}">
                <a16:creationId xmlns:a16="http://schemas.microsoft.com/office/drawing/2014/main" id="{C5F46934-D32B-1D89-1E84-7E98A4D20E99}"/>
              </a:ext>
            </a:extLst>
          </p:cNvPr>
          <p:cNvCxnSpPr/>
          <p:nvPr/>
        </p:nvCxnSpPr>
        <p:spPr>
          <a:xfrm>
            <a:off x="1977080" y="4137212"/>
            <a:ext cx="1762898" cy="0"/>
          </a:xfrm>
          <a:prstGeom prst="line">
            <a:avLst/>
          </a:prstGeom>
          <a:ln>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523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4000"/>
            <a:lum/>
          </a:blip>
          <a:srcRect/>
          <a:stretch>
            <a:fillRect l="-49000" r="-37000"/>
          </a:stretch>
        </a:blipFill>
        <a:effectLst/>
      </p:bgPr>
    </p:bg>
    <p:spTree>
      <p:nvGrpSpPr>
        <p:cNvPr id="1" name="">
          <a:extLst>
            <a:ext uri="{FF2B5EF4-FFF2-40B4-BE49-F238E27FC236}">
              <a16:creationId xmlns:a16="http://schemas.microsoft.com/office/drawing/2014/main" id="{0B419AA7-BAA1-AEAD-5FA7-2B7EA7DE6DD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55BFDAC-D93D-9FF3-583A-7D6A27A867B7}"/>
              </a:ext>
            </a:extLst>
          </p:cNvPr>
          <p:cNvSpPr txBox="1">
            <a:spLocks/>
          </p:cNvSpPr>
          <p:nvPr/>
        </p:nvSpPr>
        <p:spPr>
          <a:xfrm>
            <a:off x="614444" y="-101040"/>
            <a:ext cx="271146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About Me</a:t>
            </a:r>
          </a:p>
        </p:txBody>
      </p:sp>
      <p:cxnSp>
        <p:nvCxnSpPr>
          <p:cNvPr id="2" name="Straight Connector 1">
            <a:extLst>
              <a:ext uri="{FF2B5EF4-FFF2-40B4-BE49-F238E27FC236}">
                <a16:creationId xmlns:a16="http://schemas.microsoft.com/office/drawing/2014/main" id="{41046F96-198C-8182-80FB-F5F481C4687D}"/>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465E69B-4126-FB72-ED49-5E154C140B40}"/>
              </a:ext>
            </a:extLst>
          </p:cNvPr>
          <p:cNvSpPr txBox="1"/>
          <p:nvPr/>
        </p:nvSpPr>
        <p:spPr>
          <a:xfrm>
            <a:off x="614445" y="1524000"/>
            <a:ext cx="11344473"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6x Microsoft MVP in Azure and Microsoft 365</a:t>
            </a:r>
          </a:p>
          <a:p>
            <a:pPr marL="285750" indent="-285750">
              <a:lnSpc>
                <a:spcPct val="200000"/>
              </a:lnSpc>
              <a:buFont typeface="Arial" panose="020B0604020202020204" pitchFamily="34" charset="0"/>
              <a:buChar char="•"/>
            </a:pPr>
            <a:r>
              <a:rPr lang="en-US" dirty="0">
                <a:solidFill>
                  <a:srgbClr val="014C89"/>
                </a:solidFill>
              </a:rPr>
              <a:t>Blog at The Lazy Administrator</a:t>
            </a:r>
          </a:p>
          <a:p>
            <a:pPr marL="285750" indent="-285750">
              <a:lnSpc>
                <a:spcPct val="200000"/>
              </a:lnSpc>
              <a:buFont typeface="Arial" panose="020B0604020202020204" pitchFamily="34" charset="0"/>
              <a:buChar char="•"/>
            </a:pPr>
            <a:r>
              <a:rPr lang="en-US" dirty="0">
                <a:solidFill>
                  <a:srgbClr val="014C89"/>
                </a:solidFill>
              </a:rPr>
              <a:t>Co-Organizer of the Chicago PowerShell Users Group</a:t>
            </a:r>
          </a:p>
          <a:p>
            <a:pPr marL="285750" indent="-285750">
              <a:lnSpc>
                <a:spcPct val="200000"/>
              </a:lnSpc>
              <a:buFont typeface="Arial" panose="020B0604020202020204" pitchFamily="34" charset="0"/>
              <a:buChar char="•"/>
            </a:pPr>
            <a:r>
              <a:rPr lang="en-US" dirty="0">
                <a:solidFill>
                  <a:srgbClr val="014C89"/>
                </a:solidFill>
              </a:rPr>
              <a:t>Co-Organizer of the Chicago PowerShell Conference</a:t>
            </a:r>
          </a:p>
          <a:p>
            <a:pPr marL="285750" indent="-285750">
              <a:lnSpc>
                <a:spcPct val="200000"/>
              </a:lnSpc>
              <a:buFont typeface="Arial" panose="020B0604020202020204" pitchFamily="34" charset="0"/>
              <a:buChar char="•"/>
            </a:pPr>
            <a:r>
              <a:rPr lang="en-US" dirty="0">
                <a:solidFill>
                  <a:srgbClr val="014C89"/>
                </a:solidFill>
              </a:rPr>
              <a:t>Given talks at PowerShell &amp; DevOps Global Summit, Microsoft Technology Center, and many other user groups.</a:t>
            </a:r>
          </a:p>
          <a:p>
            <a:pPr marL="285750" indent="-285750">
              <a:lnSpc>
                <a:spcPct val="200000"/>
              </a:lnSpc>
              <a:buFont typeface="Arial" panose="020B0604020202020204" pitchFamily="34" charset="0"/>
              <a:buChar char="•"/>
            </a:pPr>
            <a:endParaRPr lang="en-US" dirty="0">
              <a:solidFill>
                <a:srgbClr val="014C89"/>
              </a:solidFill>
            </a:endParaRPr>
          </a:p>
        </p:txBody>
      </p:sp>
    </p:spTree>
    <p:extLst>
      <p:ext uri="{BB962C8B-B14F-4D97-AF65-F5344CB8AC3E}">
        <p14:creationId xmlns:p14="http://schemas.microsoft.com/office/powerpoint/2010/main" val="161858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4000"/>
            <a:lum/>
          </a:blip>
          <a:srcRect/>
          <a:stretch>
            <a:fillRect l="-49000" r="-37000"/>
          </a:stretch>
        </a:blipFill>
        <a:effectLst/>
      </p:bgPr>
    </p:bg>
    <p:spTree>
      <p:nvGrpSpPr>
        <p:cNvPr id="1" name="">
          <a:extLst>
            <a:ext uri="{FF2B5EF4-FFF2-40B4-BE49-F238E27FC236}">
              <a16:creationId xmlns:a16="http://schemas.microsoft.com/office/drawing/2014/main" id="{1A51A81C-19F3-6CD6-4D90-41CB59FAB32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CD59206-EB70-8041-D334-5BE2A7C509B7}"/>
              </a:ext>
            </a:extLst>
          </p:cNvPr>
          <p:cNvSpPr txBox="1">
            <a:spLocks/>
          </p:cNvSpPr>
          <p:nvPr/>
        </p:nvSpPr>
        <p:spPr>
          <a:xfrm>
            <a:off x="614444" y="-101040"/>
            <a:ext cx="271146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Agenda</a:t>
            </a:r>
          </a:p>
        </p:txBody>
      </p:sp>
      <p:cxnSp>
        <p:nvCxnSpPr>
          <p:cNvPr id="5" name="Straight Connector 4">
            <a:extLst>
              <a:ext uri="{FF2B5EF4-FFF2-40B4-BE49-F238E27FC236}">
                <a16:creationId xmlns:a16="http://schemas.microsoft.com/office/drawing/2014/main" id="{26ABF766-0F30-1E80-179A-81EA07D07CCF}"/>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202E869-9201-3F75-A0DC-6570F9110C4F}"/>
              </a:ext>
            </a:extLst>
          </p:cNvPr>
          <p:cNvSpPr txBox="1"/>
          <p:nvPr/>
        </p:nvSpPr>
        <p:spPr>
          <a:xfrm>
            <a:off x="614445" y="1524000"/>
            <a:ext cx="11344473"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What is UTCM and why is it important</a:t>
            </a:r>
          </a:p>
          <a:p>
            <a:pPr marL="285750" indent="-285750">
              <a:lnSpc>
                <a:spcPct val="200000"/>
              </a:lnSpc>
              <a:buFont typeface="Arial" panose="020B0604020202020204" pitchFamily="34" charset="0"/>
              <a:buChar char="•"/>
            </a:pPr>
            <a:r>
              <a:rPr lang="en-US" dirty="0">
                <a:solidFill>
                  <a:srgbClr val="014C89"/>
                </a:solidFill>
              </a:rPr>
              <a:t>Current limitations</a:t>
            </a:r>
          </a:p>
          <a:p>
            <a:pPr marL="285750" indent="-285750">
              <a:lnSpc>
                <a:spcPct val="200000"/>
              </a:lnSpc>
              <a:buFont typeface="Arial" panose="020B0604020202020204" pitchFamily="34" charset="0"/>
              <a:buChar char="•"/>
            </a:pPr>
            <a:r>
              <a:rPr lang="en-US" dirty="0">
                <a:solidFill>
                  <a:srgbClr val="014C89"/>
                </a:solidFill>
              </a:rPr>
              <a:t>Supported Workloads</a:t>
            </a:r>
          </a:p>
          <a:p>
            <a:pPr marL="285750" indent="-285750">
              <a:lnSpc>
                <a:spcPct val="200000"/>
              </a:lnSpc>
              <a:buFont typeface="Arial" panose="020B0604020202020204" pitchFamily="34" charset="0"/>
              <a:buChar char="•"/>
            </a:pPr>
            <a:r>
              <a:rPr lang="en-US" dirty="0">
                <a:solidFill>
                  <a:srgbClr val="014C89"/>
                </a:solidFill>
              </a:rPr>
              <a:t>The Five APIs that make up UTCM</a:t>
            </a:r>
          </a:p>
          <a:p>
            <a:pPr marL="285750" indent="-285750">
              <a:lnSpc>
                <a:spcPct val="200000"/>
              </a:lnSpc>
              <a:buFont typeface="Arial" panose="020B0604020202020204" pitchFamily="34" charset="0"/>
              <a:buChar char="•"/>
            </a:pPr>
            <a:r>
              <a:rPr lang="en-US" dirty="0">
                <a:solidFill>
                  <a:srgbClr val="014C89"/>
                </a:solidFill>
              </a:rPr>
              <a:t>Future state / roadmap</a:t>
            </a:r>
          </a:p>
          <a:p>
            <a:pPr marL="285750" indent="-285750">
              <a:lnSpc>
                <a:spcPct val="200000"/>
              </a:lnSpc>
              <a:buFont typeface="Arial" panose="020B0604020202020204" pitchFamily="34" charset="0"/>
              <a:buChar char="•"/>
            </a:pPr>
            <a:r>
              <a:rPr lang="en-US" dirty="0">
                <a:solidFill>
                  <a:srgbClr val="014C89"/>
                </a:solidFill>
              </a:rPr>
              <a:t>Management and Configuration</a:t>
            </a:r>
          </a:p>
        </p:txBody>
      </p:sp>
    </p:spTree>
    <p:extLst>
      <p:ext uri="{BB962C8B-B14F-4D97-AF65-F5344CB8AC3E}">
        <p14:creationId xmlns:p14="http://schemas.microsoft.com/office/powerpoint/2010/main" val="4196635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1841E1B3-C203-72A8-107C-8B6D06C7470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7229582-C0E4-5B1B-09CC-A33156BC709C}"/>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What is UTCM and why is it important</a:t>
            </a:r>
          </a:p>
        </p:txBody>
      </p:sp>
      <p:cxnSp>
        <p:nvCxnSpPr>
          <p:cNvPr id="5" name="Straight Connector 4">
            <a:extLst>
              <a:ext uri="{FF2B5EF4-FFF2-40B4-BE49-F238E27FC236}">
                <a16:creationId xmlns:a16="http://schemas.microsoft.com/office/drawing/2014/main" id="{578B6A32-1F27-610D-2A00-8FD85EEB5E39}"/>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013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CB8ADAEA-DFEA-B58B-C201-10BF8265E69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A831006-967C-1792-86E4-09883B7FBC8A}"/>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What is UTCM and why is it important</a:t>
            </a:r>
          </a:p>
        </p:txBody>
      </p:sp>
      <p:cxnSp>
        <p:nvCxnSpPr>
          <p:cNvPr id="5" name="Straight Connector 4">
            <a:extLst>
              <a:ext uri="{FF2B5EF4-FFF2-40B4-BE49-F238E27FC236}">
                <a16:creationId xmlns:a16="http://schemas.microsoft.com/office/drawing/2014/main" id="{71CA9DFF-BA74-35F0-57B7-CA4BDDC1DD2C}"/>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2747C73-9DB2-36CE-3E9C-5A456B1FF986}"/>
              </a:ext>
            </a:extLst>
          </p:cNvPr>
          <p:cNvSpPr txBox="1"/>
          <p:nvPr/>
        </p:nvSpPr>
        <p:spPr>
          <a:xfrm>
            <a:off x="614445" y="1524000"/>
            <a:ext cx="11344473"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Set of API’s to help admins monitor and alert on  configuration changes across one or more workloads within an organization. </a:t>
            </a:r>
          </a:p>
          <a:p>
            <a:pPr marL="285750" indent="-285750">
              <a:lnSpc>
                <a:spcPct val="200000"/>
              </a:lnSpc>
              <a:buFont typeface="Arial" panose="020B0604020202020204" pitchFamily="34" charset="0"/>
              <a:buChar char="•"/>
            </a:pPr>
            <a:r>
              <a:rPr lang="en-US" dirty="0">
                <a:solidFill>
                  <a:srgbClr val="014C89"/>
                </a:solidFill>
              </a:rPr>
              <a:t>Maintain a secure and consistent tenant configuration</a:t>
            </a:r>
          </a:p>
          <a:p>
            <a:pPr marL="285750" indent="-285750">
              <a:lnSpc>
                <a:spcPct val="200000"/>
              </a:lnSpc>
              <a:buFont typeface="Arial" panose="020B0604020202020204" pitchFamily="34" charset="0"/>
              <a:buChar char="•"/>
            </a:pPr>
            <a:r>
              <a:rPr lang="en-US" dirty="0">
                <a:solidFill>
                  <a:srgbClr val="014C89"/>
                </a:solidFill>
              </a:rPr>
              <a:t>Easily extract and understand current configuration states, great for auditing, reviews or troubleshooting</a:t>
            </a:r>
          </a:p>
          <a:p>
            <a:pPr marL="285750" indent="-285750">
              <a:lnSpc>
                <a:spcPct val="200000"/>
              </a:lnSpc>
              <a:buFont typeface="Arial" panose="020B0604020202020204" pitchFamily="34" charset="0"/>
              <a:buChar char="•"/>
            </a:pPr>
            <a:endParaRPr lang="en-US" dirty="0">
              <a:solidFill>
                <a:srgbClr val="014C89"/>
              </a:solidFill>
            </a:endParaRPr>
          </a:p>
          <a:p>
            <a:pPr>
              <a:lnSpc>
                <a:spcPct val="200000"/>
              </a:lnSpc>
            </a:pPr>
            <a:endParaRPr lang="en-US" dirty="0">
              <a:solidFill>
                <a:srgbClr val="014C89"/>
              </a:solidFill>
            </a:endParaRPr>
          </a:p>
        </p:txBody>
      </p:sp>
    </p:spTree>
    <p:extLst>
      <p:ext uri="{BB962C8B-B14F-4D97-AF65-F5344CB8AC3E}">
        <p14:creationId xmlns:p14="http://schemas.microsoft.com/office/powerpoint/2010/main" val="3734300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E03997BB-5F47-70F6-2D92-EB6E01B8559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777A91A-4D33-AD12-E6A9-6A147A7B6479}"/>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What is UTCM and why is it important</a:t>
            </a:r>
          </a:p>
        </p:txBody>
      </p:sp>
      <p:cxnSp>
        <p:nvCxnSpPr>
          <p:cNvPr id="5" name="Straight Connector 4">
            <a:extLst>
              <a:ext uri="{FF2B5EF4-FFF2-40B4-BE49-F238E27FC236}">
                <a16:creationId xmlns:a16="http://schemas.microsoft.com/office/drawing/2014/main" id="{835255FE-E2C4-9D46-A960-ACD70F802B87}"/>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91F4EFD-C781-D5D2-1503-9FFE7CD2057A}"/>
              </a:ext>
            </a:extLst>
          </p:cNvPr>
          <p:cNvSpPr txBox="1"/>
          <p:nvPr/>
        </p:nvSpPr>
        <p:spPr>
          <a:xfrm>
            <a:off x="614445" y="1524000"/>
            <a:ext cx="11344473" cy="2787751"/>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Microsoft365 DSC: PowerShell based, led by Microsoft engineers and maintained by the community. </a:t>
            </a:r>
          </a:p>
          <a:p>
            <a:pPr marL="285750" indent="-285750">
              <a:lnSpc>
                <a:spcPct val="200000"/>
              </a:lnSpc>
              <a:buFont typeface="Arial" panose="020B0604020202020204" pitchFamily="34" charset="0"/>
              <a:buChar char="•"/>
            </a:pPr>
            <a:r>
              <a:rPr lang="en-US" dirty="0" err="1">
                <a:solidFill>
                  <a:srgbClr val="014C89"/>
                </a:solidFill>
              </a:rPr>
              <a:t>Inforcer</a:t>
            </a:r>
            <a:r>
              <a:rPr lang="en-US" dirty="0">
                <a:solidFill>
                  <a:srgbClr val="014C89"/>
                </a:solidFill>
              </a:rPr>
              <a:t>: Great paid product, more mature and feature filled.</a:t>
            </a:r>
          </a:p>
          <a:p>
            <a:pPr marL="285750" indent="-285750">
              <a:lnSpc>
                <a:spcPct val="200000"/>
              </a:lnSpc>
              <a:buFont typeface="Arial" panose="020B0604020202020204" pitchFamily="34" charset="0"/>
              <a:buChar char="•"/>
            </a:pPr>
            <a:r>
              <a:rPr lang="en-US" dirty="0">
                <a:solidFill>
                  <a:srgbClr val="014C89"/>
                </a:solidFill>
              </a:rPr>
              <a:t>CIPP: New in v8.3, Runs every 12hrs </a:t>
            </a:r>
          </a:p>
          <a:p>
            <a:pPr marL="285750" indent="-285750">
              <a:lnSpc>
                <a:spcPct val="200000"/>
              </a:lnSpc>
              <a:buFont typeface="Arial" panose="020B0604020202020204" pitchFamily="34" charset="0"/>
              <a:buChar char="•"/>
            </a:pPr>
            <a:endParaRPr lang="en-US" dirty="0">
              <a:solidFill>
                <a:srgbClr val="014C89"/>
              </a:solidFill>
            </a:endParaRPr>
          </a:p>
          <a:p>
            <a:pPr>
              <a:lnSpc>
                <a:spcPct val="200000"/>
              </a:lnSpc>
            </a:pPr>
            <a:endParaRPr lang="en-US" dirty="0">
              <a:solidFill>
                <a:srgbClr val="014C89"/>
              </a:solidFill>
            </a:endParaRPr>
          </a:p>
        </p:txBody>
      </p:sp>
      <p:pic>
        <p:nvPicPr>
          <p:cNvPr id="9222" name="Picture 6">
            <a:extLst>
              <a:ext uri="{FF2B5EF4-FFF2-40B4-BE49-F238E27FC236}">
                <a16:creationId xmlns:a16="http://schemas.microsoft.com/office/drawing/2014/main" id="{EF6179D5-60D5-307D-DF5C-A1F3E98AA4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443" y="4755776"/>
            <a:ext cx="2725271" cy="13626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06DA648-B220-4E0C-F33F-9E937F083AD1}"/>
              </a:ext>
            </a:extLst>
          </p:cNvPr>
          <p:cNvPicPr>
            <a:picLocks noChangeAspect="1"/>
          </p:cNvPicPr>
          <p:nvPr/>
        </p:nvPicPr>
        <p:blipFill>
          <a:blip r:embed="rId5"/>
          <a:stretch>
            <a:fillRect/>
          </a:stretch>
        </p:blipFill>
        <p:spPr>
          <a:xfrm>
            <a:off x="4894730" y="5165226"/>
            <a:ext cx="2640106" cy="513354"/>
          </a:xfrm>
          <a:prstGeom prst="rect">
            <a:avLst/>
          </a:prstGeom>
        </p:spPr>
      </p:pic>
      <p:pic>
        <p:nvPicPr>
          <p:cNvPr id="8" name="Graphic 7">
            <a:extLst>
              <a:ext uri="{FF2B5EF4-FFF2-40B4-BE49-F238E27FC236}">
                <a16:creationId xmlns:a16="http://schemas.microsoft.com/office/drawing/2014/main" id="{D3C47BC8-DB4F-C550-90D9-9A15823C9B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9852" y="4461734"/>
            <a:ext cx="2180665" cy="1744532"/>
          </a:xfrm>
          <a:prstGeom prst="rect">
            <a:avLst/>
          </a:prstGeom>
        </p:spPr>
      </p:pic>
    </p:spTree>
    <p:extLst>
      <p:ext uri="{BB962C8B-B14F-4D97-AF65-F5344CB8AC3E}">
        <p14:creationId xmlns:p14="http://schemas.microsoft.com/office/powerpoint/2010/main" val="268629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11D61A81-5269-52F1-29A2-4EBBF47464F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41BD750-16BA-842E-D239-D9A47FCB59E9}"/>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Current Limitations</a:t>
            </a:r>
          </a:p>
        </p:txBody>
      </p:sp>
      <p:cxnSp>
        <p:nvCxnSpPr>
          <p:cNvPr id="5" name="Straight Connector 4">
            <a:extLst>
              <a:ext uri="{FF2B5EF4-FFF2-40B4-BE49-F238E27FC236}">
                <a16:creationId xmlns:a16="http://schemas.microsoft.com/office/drawing/2014/main" id="{78D23CF5-160B-B9EB-2FEA-30B993D5B53D}"/>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3699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0FA1ACFB-D7AD-A494-EB8B-D40E010FA0A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B61D519-B0CE-CBFE-282D-8A052488DFA7}"/>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Current Limitations</a:t>
            </a:r>
          </a:p>
        </p:txBody>
      </p:sp>
      <p:cxnSp>
        <p:nvCxnSpPr>
          <p:cNvPr id="5" name="Straight Connector 4">
            <a:extLst>
              <a:ext uri="{FF2B5EF4-FFF2-40B4-BE49-F238E27FC236}">
                <a16:creationId xmlns:a16="http://schemas.microsoft.com/office/drawing/2014/main" id="{5AFB3B30-4402-AC35-358C-7377ADF17EBC}"/>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650BD12-EEB9-E9DD-55BC-7FFB289C90BC}"/>
              </a:ext>
            </a:extLst>
          </p:cNvPr>
          <p:cNvSpPr txBox="1"/>
          <p:nvPr/>
        </p:nvSpPr>
        <p:spPr>
          <a:xfrm>
            <a:off x="614445" y="1524000"/>
            <a:ext cx="11344473" cy="223375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Currently in Beta, subject to change</a:t>
            </a:r>
          </a:p>
          <a:p>
            <a:pPr marL="285750" indent="-285750">
              <a:lnSpc>
                <a:spcPct val="200000"/>
              </a:lnSpc>
              <a:buFont typeface="Arial" panose="020B0604020202020204" pitchFamily="34" charset="0"/>
              <a:buChar char="•"/>
            </a:pPr>
            <a:r>
              <a:rPr lang="en-US" dirty="0">
                <a:solidFill>
                  <a:srgbClr val="014C89"/>
                </a:solidFill>
              </a:rPr>
              <a:t>Monitor only, does not auto-resolve</a:t>
            </a:r>
          </a:p>
          <a:p>
            <a:pPr marL="285750" indent="-285750">
              <a:lnSpc>
                <a:spcPct val="200000"/>
              </a:lnSpc>
              <a:buFont typeface="Arial" panose="020B0604020202020204" pitchFamily="34" charset="0"/>
              <a:buChar char="•"/>
            </a:pPr>
            <a:r>
              <a:rPr lang="en-US" dirty="0">
                <a:solidFill>
                  <a:srgbClr val="014C89"/>
                </a:solidFill>
              </a:rPr>
              <a:t>Create the UTCM service principal and assign permissions</a:t>
            </a:r>
          </a:p>
          <a:p>
            <a:pPr marL="285750" indent="-285750">
              <a:lnSpc>
                <a:spcPct val="200000"/>
              </a:lnSpc>
              <a:buFont typeface="Arial" panose="020B0604020202020204" pitchFamily="34" charset="0"/>
              <a:buChar char="•"/>
            </a:pPr>
            <a:endParaRPr lang="en-US" dirty="0">
              <a:solidFill>
                <a:srgbClr val="014C89"/>
              </a:solidFill>
            </a:endParaRPr>
          </a:p>
        </p:txBody>
      </p:sp>
      <p:graphicFrame>
        <p:nvGraphicFramePr>
          <p:cNvPr id="8" name="Table 7">
            <a:extLst>
              <a:ext uri="{FF2B5EF4-FFF2-40B4-BE49-F238E27FC236}">
                <a16:creationId xmlns:a16="http://schemas.microsoft.com/office/drawing/2014/main" id="{7EB37522-77BD-B630-6EAD-9A43C36172E5}"/>
              </a:ext>
            </a:extLst>
          </p:cNvPr>
          <p:cNvGraphicFramePr>
            <a:graphicFrameLocks noGrp="1"/>
          </p:cNvGraphicFramePr>
          <p:nvPr>
            <p:extLst>
              <p:ext uri="{D42A27DB-BD31-4B8C-83A1-F6EECF244321}">
                <p14:modId xmlns:p14="http://schemas.microsoft.com/office/powerpoint/2010/main" val="2585964007"/>
              </p:ext>
            </p:extLst>
          </p:nvPr>
        </p:nvGraphicFramePr>
        <p:xfrm>
          <a:off x="838200" y="3349336"/>
          <a:ext cx="10515600" cy="2331720"/>
        </p:xfrm>
        <a:graphic>
          <a:graphicData uri="http://schemas.openxmlformats.org/drawingml/2006/table">
            <a:tbl>
              <a:tblPr>
                <a:tableStyleId>{1E171933-4619-4E11-9A3F-F7608DF75F80}</a:tableStyleId>
              </a:tblPr>
              <a:tblGrid>
                <a:gridCol w="5257800">
                  <a:extLst>
                    <a:ext uri="{9D8B030D-6E8A-4147-A177-3AD203B41FA5}">
                      <a16:colId xmlns:a16="http://schemas.microsoft.com/office/drawing/2014/main" val="2850360700"/>
                    </a:ext>
                  </a:extLst>
                </a:gridCol>
                <a:gridCol w="5257800">
                  <a:extLst>
                    <a:ext uri="{9D8B030D-6E8A-4147-A177-3AD203B41FA5}">
                      <a16:colId xmlns:a16="http://schemas.microsoft.com/office/drawing/2014/main" val="487962589"/>
                    </a:ext>
                  </a:extLst>
                </a:gridCol>
              </a:tblGrid>
              <a:tr h="0">
                <a:tc>
                  <a:txBody>
                    <a:bodyPr/>
                    <a:lstStyle/>
                    <a:p>
                      <a:pPr algn="ctr">
                        <a:buNone/>
                      </a:pPr>
                      <a:r>
                        <a:rPr lang="en-US" b="1" dirty="0">
                          <a:solidFill>
                            <a:srgbClr val="014C89"/>
                          </a:solidFill>
                          <a:effectLst/>
                        </a:rPr>
                        <a:t>Limit</a:t>
                      </a:r>
                    </a:p>
                  </a:txBody>
                  <a:tcPr marL="123825" marR="123825" marT="57150" marB="57150" anchor="ctr"/>
                </a:tc>
                <a:tc>
                  <a:txBody>
                    <a:bodyPr/>
                    <a:lstStyle/>
                    <a:p>
                      <a:pPr algn="ctr">
                        <a:buNone/>
                      </a:pPr>
                      <a:r>
                        <a:rPr lang="en-US" b="1" dirty="0">
                          <a:solidFill>
                            <a:srgbClr val="014C89"/>
                          </a:solidFill>
                          <a:effectLst/>
                        </a:rPr>
                        <a:t>Value</a:t>
                      </a:r>
                    </a:p>
                  </a:txBody>
                  <a:tcPr marL="123825" marR="123825" marT="57150" marB="57150" anchor="ctr"/>
                </a:tc>
                <a:extLst>
                  <a:ext uri="{0D108BD9-81ED-4DB2-BD59-A6C34878D82A}">
                    <a16:rowId xmlns:a16="http://schemas.microsoft.com/office/drawing/2014/main" val="1631942415"/>
                  </a:ext>
                </a:extLst>
              </a:tr>
              <a:tr h="0">
                <a:tc>
                  <a:txBody>
                    <a:bodyPr/>
                    <a:lstStyle/>
                    <a:p>
                      <a:pPr>
                        <a:buNone/>
                      </a:pPr>
                      <a:r>
                        <a:rPr lang="en-US">
                          <a:solidFill>
                            <a:srgbClr val="014C89"/>
                          </a:solidFill>
                          <a:effectLst/>
                        </a:rPr>
                        <a:t>Monitors per tenant</a:t>
                      </a:r>
                    </a:p>
                  </a:txBody>
                  <a:tcPr marL="123825" marR="123825" marT="57150" marB="57150" anchor="ctr"/>
                </a:tc>
                <a:tc>
                  <a:txBody>
                    <a:bodyPr/>
                    <a:lstStyle/>
                    <a:p>
                      <a:pPr>
                        <a:buNone/>
                      </a:pPr>
                      <a:r>
                        <a:rPr lang="en-US">
                          <a:solidFill>
                            <a:srgbClr val="014C89"/>
                          </a:solidFill>
                          <a:effectLst/>
                        </a:rPr>
                        <a:t>30</a:t>
                      </a:r>
                    </a:p>
                  </a:txBody>
                  <a:tcPr marL="123825" marR="123825" marT="57150" marB="57150" anchor="ctr"/>
                </a:tc>
                <a:extLst>
                  <a:ext uri="{0D108BD9-81ED-4DB2-BD59-A6C34878D82A}">
                    <a16:rowId xmlns:a16="http://schemas.microsoft.com/office/drawing/2014/main" val="1631870075"/>
                  </a:ext>
                </a:extLst>
              </a:tr>
              <a:tr h="0">
                <a:tc>
                  <a:txBody>
                    <a:bodyPr/>
                    <a:lstStyle/>
                    <a:p>
                      <a:pPr>
                        <a:buNone/>
                      </a:pPr>
                      <a:r>
                        <a:rPr lang="en-US" dirty="0">
                          <a:solidFill>
                            <a:srgbClr val="014C89"/>
                          </a:solidFill>
                          <a:effectLst/>
                        </a:rPr>
                        <a:t>Daily monitored resources</a:t>
                      </a:r>
                    </a:p>
                  </a:txBody>
                  <a:tcPr marL="123825" marR="123825" marT="57150" marB="57150" anchor="ctr"/>
                </a:tc>
                <a:tc>
                  <a:txBody>
                    <a:bodyPr/>
                    <a:lstStyle/>
                    <a:p>
                      <a:pPr>
                        <a:buNone/>
                      </a:pPr>
                      <a:r>
                        <a:rPr lang="en-US">
                          <a:solidFill>
                            <a:srgbClr val="014C89"/>
                          </a:solidFill>
                          <a:effectLst/>
                        </a:rPr>
                        <a:t>800</a:t>
                      </a:r>
                    </a:p>
                  </a:txBody>
                  <a:tcPr marL="123825" marR="123825" marT="57150" marB="57150" anchor="ctr"/>
                </a:tc>
                <a:extLst>
                  <a:ext uri="{0D108BD9-81ED-4DB2-BD59-A6C34878D82A}">
                    <a16:rowId xmlns:a16="http://schemas.microsoft.com/office/drawing/2014/main" val="2139311810"/>
                  </a:ext>
                </a:extLst>
              </a:tr>
              <a:tr h="0">
                <a:tc>
                  <a:txBody>
                    <a:bodyPr/>
                    <a:lstStyle/>
                    <a:p>
                      <a:pPr>
                        <a:buNone/>
                      </a:pPr>
                      <a:r>
                        <a:rPr lang="en-US">
                          <a:solidFill>
                            <a:srgbClr val="014C89"/>
                          </a:solidFill>
                          <a:effectLst/>
                        </a:rPr>
                        <a:t>Monitoring cycle interval</a:t>
                      </a:r>
                    </a:p>
                  </a:txBody>
                  <a:tcPr marL="123825" marR="123825" marT="57150" marB="57150" anchor="ctr"/>
                </a:tc>
                <a:tc>
                  <a:txBody>
                    <a:bodyPr/>
                    <a:lstStyle/>
                    <a:p>
                      <a:pPr>
                        <a:buNone/>
                      </a:pPr>
                      <a:r>
                        <a:rPr lang="en-US" dirty="0">
                          <a:solidFill>
                            <a:srgbClr val="014C89"/>
                          </a:solidFill>
                          <a:effectLst/>
                        </a:rPr>
                        <a:t>6 hours</a:t>
                      </a:r>
                    </a:p>
                  </a:txBody>
                  <a:tcPr marL="123825" marR="123825" marT="57150" marB="57150" anchor="ctr"/>
                </a:tc>
                <a:extLst>
                  <a:ext uri="{0D108BD9-81ED-4DB2-BD59-A6C34878D82A}">
                    <a16:rowId xmlns:a16="http://schemas.microsoft.com/office/drawing/2014/main" val="410507621"/>
                  </a:ext>
                </a:extLst>
              </a:tr>
              <a:tr h="0">
                <a:tc>
                  <a:txBody>
                    <a:bodyPr/>
                    <a:lstStyle/>
                    <a:p>
                      <a:pPr>
                        <a:buNone/>
                      </a:pPr>
                      <a:r>
                        <a:rPr lang="en-US" dirty="0">
                          <a:solidFill>
                            <a:srgbClr val="014C89"/>
                          </a:solidFill>
                          <a:effectLst/>
                        </a:rPr>
                        <a:t>Visible snapshot jobs</a:t>
                      </a:r>
                    </a:p>
                  </a:txBody>
                  <a:tcPr marL="123825" marR="123825" marT="57150" marB="57150" anchor="ctr"/>
                </a:tc>
                <a:tc>
                  <a:txBody>
                    <a:bodyPr/>
                    <a:lstStyle/>
                    <a:p>
                      <a:pPr>
                        <a:buNone/>
                      </a:pPr>
                      <a:r>
                        <a:rPr lang="en-US">
                          <a:solidFill>
                            <a:srgbClr val="014C89"/>
                          </a:solidFill>
                          <a:effectLst/>
                        </a:rPr>
                        <a:t>12</a:t>
                      </a:r>
                    </a:p>
                  </a:txBody>
                  <a:tcPr marL="123825" marR="123825" marT="57150" marB="57150" anchor="ctr"/>
                </a:tc>
                <a:extLst>
                  <a:ext uri="{0D108BD9-81ED-4DB2-BD59-A6C34878D82A}">
                    <a16:rowId xmlns:a16="http://schemas.microsoft.com/office/drawing/2014/main" val="3848722172"/>
                  </a:ext>
                </a:extLst>
              </a:tr>
              <a:tr h="0">
                <a:tc>
                  <a:txBody>
                    <a:bodyPr/>
                    <a:lstStyle/>
                    <a:p>
                      <a:pPr>
                        <a:buNone/>
                      </a:pPr>
                      <a:r>
                        <a:rPr lang="en-US" dirty="0">
                          <a:solidFill>
                            <a:srgbClr val="014C89"/>
                          </a:solidFill>
                          <a:effectLst/>
                        </a:rPr>
                        <a:t>Snapshot retention</a:t>
                      </a:r>
                    </a:p>
                  </a:txBody>
                  <a:tcPr marL="123825" marR="123825" marT="57150" marB="57150" anchor="ctr"/>
                </a:tc>
                <a:tc>
                  <a:txBody>
                    <a:bodyPr/>
                    <a:lstStyle/>
                    <a:p>
                      <a:pPr>
                        <a:buNone/>
                      </a:pPr>
                      <a:r>
                        <a:rPr lang="en-US" dirty="0">
                          <a:solidFill>
                            <a:srgbClr val="014C89"/>
                          </a:solidFill>
                          <a:effectLst/>
                        </a:rPr>
                        <a:t>7 days</a:t>
                      </a:r>
                    </a:p>
                  </a:txBody>
                  <a:tcPr marL="123825" marR="123825" marT="57150" marB="57150" anchor="ctr"/>
                </a:tc>
                <a:extLst>
                  <a:ext uri="{0D108BD9-81ED-4DB2-BD59-A6C34878D82A}">
                    <a16:rowId xmlns:a16="http://schemas.microsoft.com/office/drawing/2014/main" val="624558866"/>
                  </a:ext>
                </a:extLst>
              </a:tr>
            </a:tbl>
          </a:graphicData>
        </a:graphic>
      </p:graphicFrame>
    </p:spTree>
    <p:extLst>
      <p:ext uri="{BB962C8B-B14F-4D97-AF65-F5344CB8AC3E}">
        <p14:creationId xmlns:p14="http://schemas.microsoft.com/office/powerpoint/2010/main" val="940096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6CA106D-30E0-EC66-9704-6C8FB61BE9D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D32F0CD-3160-3D0A-F5A8-B8B151468530}"/>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Supported Workloads</a:t>
            </a:r>
          </a:p>
        </p:txBody>
      </p:sp>
      <p:cxnSp>
        <p:nvCxnSpPr>
          <p:cNvPr id="5" name="Straight Connector 4">
            <a:extLst>
              <a:ext uri="{FF2B5EF4-FFF2-40B4-BE49-F238E27FC236}">
                <a16:creationId xmlns:a16="http://schemas.microsoft.com/office/drawing/2014/main" id="{C0213F23-C524-A425-2C07-80948F56DBA9}"/>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628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5D8346D-BA1A-330F-B17F-204CA4C5FD3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9AE270A-5431-9023-D3BF-809E087E2E79}"/>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Supported Workloads</a:t>
            </a:r>
          </a:p>
        </p:txBody>
      </p:sp>
      <p:cxnSp>
        <p:nvCxnSpPr>
          <p:cNvPr id="5" name="Straight Connector 4">
            <a:extLst>
              <a:ext uri="{FF2B5EF4-FFF2-40B4-BE49-F238E27FC236}">
                <a16:creationId xmlns:a16="http://schemas.microsoft.com/office/drawing/2014/main" id="{EDDB0EFD-F26F-9A7E-0AB6-74D6680F880D}"/>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1720CAC-78F4-8A67-442B-906E6044B42A}"/>
              </a:ext>
            </a:extLst>
          </p:cNvPr>
          <p:cNvSpPr txBox="1"/>
          <p:nvPr/>
        </p:nvSpPr>
        <p:spPr>
          <a:xfrm>
            <a:off x="614445" y="1524000"/>
            <a:ext cx="11344473" cy="334174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solidFill>
                  <a:srgbClr val="014C89"/>
                </a:solidFill>
              </a:rPr>
              <a:t>Microsoft Entra</a:t>
            </a:r>
          </a:p>
          <a:p>
            <a:pPr marL="285750" indent="-285750">
              <a:lnSpc>
                <a:spcPct val="200000"/>
              </a:lnSpc>
              <a:buFont typeface="Arial" panose="020B0604020202020204" pitchFamily="34" charset="0"/>
              <a:buChar char="•"/>
            </a:pPr>
            <a:r>
              <a:rPr lang="en-US" dirty="0">
                <a:solidFill>
                  <a:srgbClr val="014C89"/>
                </a:solidFill>
              </a:rPr>
              <a:t>Exchange Online</a:t>
            </a:r>
          </a:p>
          <a:p>
            <a:pPr marL="285750" indent="-285750">
              <a:lnSpc>
                <a:spcPct val="200000"/>
              </a:lnSpc>
              <a:buFont typeface="Arial" panose="020B0604020202020204" pitchFamily="34" charset="0"/>
              <a:buChar char="•"/>
            </a:pPr>
            <a:r>
              <a:rPr lang="en-US" dirty="0">
                <a:solidFill>
                  <a:srgbClr val="014C89"/>
                </a:solidFill>
              </a:rPr>
              <a:t>Microsoft Intune</a:t>
            </a:r>
          </a:p>
          <a:p>
            <a:pPr marL="285750" indent="-285750">
              <a:lnSpc>
                <a:spcPct val="200000"/>
              </a:lnSpc>
              <a:buFont typeface="Arial" panose="020B0604020202020204" pitchFamily="34" charset="0"/>
              <a:buChar char="•"/>
            </a:pPr>
            <a:r>
              <a:rPr lang="en-US" dirty="0">
                <a:solidFill>
                  <a:srgbClr val="014C89"/>
                </a:solidFill>
              </a:rPr>
              <a:t>Microsoft Defender</a:t>
            </a:r>
          </a:p>
          <a:p>
            <a:pPr marL="285750" indent="-285750">
              <a:lnSpc>
                <a:spcPct val="200000"/>
              </a:lnSpc>
              <a:buFont typeface="Arial" panose="020B0604020202020204" pitchFamily="34" charset="0"/>
              <a:buChar char="•"/>
            </a:pPr>
            <a:r>
              <a:rPr lang="en-US" dirty="0">
                <a:solidFill>
                  <a:srgbClr val="014C89"/>
                </a:solidFill>
              </a:rPr>
              <a:t>Microsoft Purview</a:t>
            </a:r>
          </a:p>
          <a:p>
            <a:pPr marL="285750" indent="-285750">
              <a:lnSpc>
                <a:spcPct val="200000"/>
              </a:lnSpc>
              <a:buFont typeface="Arial" panose="020B0604020202020204" pitchFamily="34" charset="0"/>
              <a:buChar char="•"/>
            </a:pPr>
            <a:r>
              <a:rPr lang="en-US" dirty="0">
                <a:solidFill>
                  <a:srgbClr val="014C89"/>
                </a:solidFill>
              </a:rPr>
              <a:t>Microsoft Teams</a:t>
            </a:r>
          </a:p>
        </p:txBody>
      </p:sp>
    </p:spTree>
    <p:extLst>
      <p:ext uri="{BB962C8B-B14F-4D97-AF65-F5344CB8AC3E}">
        <p14:creationId xmlns:p14="http://schemas.microsoft.com/office/powerpoint/2010/main" val="2533358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076238C-E2A0-79C2-460D-3E15DFCC5B0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05FF163-09C3-C7E9-7489-20CE2D321CC7}"/>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The Five APIs that make up UTCM</a:t>
            </a:r>
          </a:p>
        </p:txBody>
      </p:sp>
      <p:cxnSp>
        <p:nvCxnSpPr>
          <p:cNvPr id="5" name="Straight Connector 4">
            <a:extLst>
              <a:ext uri="{FF2B5EF4-FFF2-40B4-BE49-F238E27FC236}">
                <a16:creationId xmlns:a16="http://schemas.microsoft.com/office/drawing/2014/main" id="{361A43E6-63F4-C732-EA7D-34E4D191D055}"/>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2163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4BE670EE-A84B-73B3-F2A5-4232E884FA1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AC740AB-D7AA-4957-AECD-7D15CFAE16C5}"/>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Snapshot</a:t>
            </a:r>
          </a:p>
        </p:txBody>
      </p:sp>
      <p:cxnSp>
        <p:nvCxnSpPr>
          <p:cNvPr id="5" name="Straight Connector 4">
            <a:extLst>
              <a:ext uri="{FF2B5EF4-FFF2-40B4-BE49-F238E27FC236}">
                <a16:creationId xmlns:a16="http://schemas.microsoft.com/office/drawing/2014/main" id="{3B33A4DA-024F-5C95-9FA6-7B07A2F6CA36}"/>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B3DE07B-E9FA-CC4F-0445-D428EFDCFB7C}"/>
              </a:ext>
            </a:extLst>
          </p:cNvPr>
          <p:cNvSpPr txBox="1"/>
          <p:nvPr/>
        </p:nvSpPr>
        <p:spPr>
          <a:xfrm>
            <a:off x="614445" y="1524000"/>
            <a:ext cx="11344473" cy="1818255"/>
          </a:xfrm>
          <a:prstGeom prst="rect">
            <a:avLst/>
          </a:prstGeom>
          <a:noFill/>
        </p:spPr>
        <p:txBody>
          <a:bodyPr wrap="square" rtlCol="0">
            <a:spAutoFit/>
          </a:bodyPr>
          <a:lstStyle/>
          <a:p>
            <a:pPr>
              <a:lnSpc>
                <a:spcPct val="150000"/>
              </a:lnSpc>
            </a:pPr>
            <a:r>
              <a:rPr lang="en-US" dirty="0">
                <a:solidFill>
                  <a:srgbClr val="014C89"/>
                </a:solidFill>
              </a:rPr>
              <a:t>Extract the current tenant configuration settings. This process allows administrators to get a baseline that represents the desired tenant configuration and serves as the foundation for periodic tenant monitoring.</a:t>
            </a:r>
          </a:p>
          <a:p>
            <a:pPr>
              <a:lnSpc>
                <a:spcPct val="150000"/>
              </a:lnSpc>
            </a:pPr>
            <a:endParaRPr lang="en-US" dirty="0">
              <a:solidFill>
                <a:srgbClr val="014C89"/>
              </a:solidFill>
            </a:endParaRPr>
          </a:p>
          <a:p>
            <a:pPr>
              <a:lnSpc>
                <a:spcPct val="200000"/>
              </a:lnSpc>
            </a:pPr>
            <a:endParaRPr lang="en-US" dirty="0">
              <a:solidFill>
                <a:srgbClr val="014C89"/>
              </a:solidFill>
            </a:endParaRPr>
          </a:p>
        </p:txBody>
      </p:sp>
      <p:sp>
        <p:nvSpPr>
          <p:cNvPr id="4" name="TextBox 3">
            <a:extLst>
              <a:ext uri="{FF2B5EF4-FFF2-40B4-BE49-F238E27FC236}">
                <a16:creationId xmlns:a16="http://schemas.microsoft.com/office/drawing/2014/main" id="{02C1B012-BF71-17BD-34F4-4CEB3689E0BA}"/>
              </a:ext>
            </a:extLst>
          </p:cNvPr>
          <p:cNvSpPr txBox="1"/>
          <p:nvPr/>
        </p:nvSpPr>
        <p:spPr>
          <a:xfrm>
            <a:off x="614443" y="3429000"/>
            <a:ext cx="6705600" cy="3000821"/>
          </a:xfrm>
          <a:prstGeom prst="rect">
            <a:avLst/>
          </a:prstGeom>
          <a:noFill/>
        </p:spPr>
        <p:txBody>
          <a:bodyPr wrap="square" rtlCol="0">
            <a:spAutoFit/>
          </a:bodyPr>
          <a:lstStyle/>
          <a:p>
            <a:pPr>
              <a:lnSpc>
                <a:spcPct val="150000"/>
              </a:lnSpc>
            </a:pPr>
            <a:r>
              <a:rPr lang="en-US" sz="1600" b="1" dirty="0">
                <a:solidFill>
                  <a:srgbClr val="014C89"/>
                </a:solidFill>
              </a:rPr>
              <a:t>Resource: </a:t>
            </a:r>
            <a:r>
              <a:rPr lang="en-US" sz="1600" dirty="0" err="1">
                <a:solidFill>
                  <a:srgbClr val="014C89"/>
                </a:solidFill>
                <a:latin typeface="Consolas" panose="020B0609020204030204" pitchFamily="49" charset="0"/>
                <a:cs typeface="Consolas" panose="020B0609020204030204" pitchFamily="49" charset="0"/>
              </a:rPr>
              <a:t>configurationSnapshots</a:t>
            </a:r>
            <a:endParaRPr lang="en-US" sz="1600" dirty="0">
              <a:solidFill>
                <a:srgbClr val="014C89"/>
              </a:solidFill>
              <a:latin typeface="Consolas" panose="020B0609020204030204" pitchFamily="49" charset="0"/>
              <a:cs typeface="Consolas" panose="020B0609020204030204" pitchFamily="49" charset="0"/>
            </a:endParaRPr>
          </a:p>
          <a:p>
            <a:pPr>
              <a:lnSpc>
                <a:spcPct val="150000"/>
              </a:lnSpc>
            </a:pPr>
            <a:r>
              <a:rPr lang="en-US" sz="1600" b="1" dirty="0">
                <a:solidFill>
                  <a:srgbClr val="014C89"/>
                </a:solidFill>
              </a:rPr>
              <a:t>What it does</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Captures the current state of your tenant.</a:t>
            </a:r>
          </a:p>
          <a:p>
            <a:pPr>
              <a:lnSpc>
                <a:spcPct val="150000"/>
              </a:lnSpc>
            </a:pPr>
            <a:r>
              <a:rPr lang="en-US" sz="1600" b="1" dirty="0">
                <a:solidFill>
                  <a:srgbClr val="014C89"/>
                </a:solidFill>
              </a:rPr>
              <a:t>Used to</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Build baselines</a:t>
            </a:r>
          </a:p>
          <a:p>
            <a:pPr marL="285750" indent="-285750">
              <a:lnSpc>
                <a:spcPct val="150000"/>
              </a:lnSpc>
              <a:buFont typeface="Arial" panose="020B0604020202020204" pitchFamily="34" charset="0"/>
              <a:buChar char="•"/>
            </a:pPr>
            <a:r>
              <a:rPr lang="en-US" sz="1600" dirty="0">
                <a:solidFill>
                  <a:srgbClr val="014C89"/>
                </a:solidFill>
              </a:rPr>
              <a:t>Compare against future state</a:t>
            </a:r>
          </a:p>
          <a:p>
            <a:pPr>
              <a:lnSpc>
                <a:spcPct val="150000"/>
              </a:lnSpc>
            </a:pPr>
            <a:r>
              <a:rPr lang="en-US" sz="1600" b="1" dirty="0">
                <a:solidFill>
                  <a:srgbClr val="014C89"/>
                </a:solidFill>
              </a:rPr>
              <a:t>Think</a:t>
            </a:r>
            <a:r>
              <a:rPr lang="en-US" sz="1600" dirty="0">
                <a:solidFill>
                  <a:srgbClr val="014C89"/>
                </a:solidFill>
              </a:rPr>
              <a:t>: “</a:t>
            </a:r>
            <a:r>
              <a:rPr lang="en-US" sz="1600" i="1" dirty="0">
                <a:solidFill>
                  <a:srgbClr val="014C89"/>
                </a:solidFill>
              </a:rPr>
              <a:t>What does my environment look like right now?”</a:t>
            </a:r>
          </a:p>
          <a:p>
            <a:endParaRPr lang="en-US" sz="1600" dirty="0"/>
          </a:p>
        </p:txBody>
      </p:sp>
    </p:spTree>
    <p:extLst>
      <p:ext uri="{BB962C8B-B14F-4D97-AF65-F5344CB8AC3E}">
        <p14:creationId xmlns:p14="http://schemas.microsoft.com/office/powerpoint/2010/main" val="1092565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4D19204-BDC9-11AA-1676-3117D013760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43566D1-D143-A19E-0019-7741D4B13828}"/>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Snapshot</a:t>
            </a:r>
          </a:p>
        </p:txBody>
      </p:sp>
      <p:cxnSp>
        <p:nvCxnSpPr>
          <p:cNvPr id="5" name="Straight Connector 4">
            <a:extLst>
              <a:ext uri="{FF2B5EF4-FFF2-40B4-BE49-F238E27FC236}">
                <a16:creationId xmlns:a16="http://schemas.microsoft.com/office/drawing/2014/main" id="{E91BC13A-1CF7-4153-80EA-F747D3F92628}"/>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158A366-37D5-8ED6-96C2-1FC149B16C43}"/>
              </a:ext>
            </a:extLst>
          </p:cNvPr>
          <p:cNvSpPr txBox="1"/>
          <p:nvPr/>
        </p:nvSpPr>
        <p:spPr>
          <a:xfrm>
            <a:off x="614442" y="1413063"/>
            <a:ext cx="10842451" cy="3539430"/>
          </a:xfrm>
          <a:prstGeom prst="rect">
            <a:avLst/>
          </a:prstGeom>
          <a:noFill/>
        </p:spPr>
        <p:txBody>
          <a:bodyPr wrap="square" rtlCol="0">
            <a:spAutoFit/>
          </a:bodyPr>
          <a:lstStyle/>
          <a:p>
            <a:r>
              <a:rPr lang="en-US" sz="1600" dirty="0">
                <a:solidFill>
                  <a:srgbClr val="014C89"/>
                </a:solidFill>
                <a:latin typeface="Consolas" panose="020B0609020204030204" pitchFamily="49" charset="0"/>
                <a:cs typeface="Consolas" panose="020B0609020204030204" pitchFamily="49" charset="0"/>
              </a:rPr>
              <a:t>@</a:t>
            </a:r>
            <a:r>
              <a:rPr lang="en-US" sz="1600" dirty="0" err="1">
                <a:solidFill>
                  <a:srgbClr val="014C89"/>
                </a:solidFill>
                <a:latin typeface="Consolas" panose="020B0609020204030204" pitchFamily="49" charset="0"/>
                <a:cs typeface="Consolas" panose="020B0609020204030204" pitchFamily="49" charset="0"/>
              </a:rPr>
              <a:t>baseUrl</a:t>
            </a:r>
            <a:r>
              <a:rPr lang="en-US" sz="1600" dirty="0">
                <a:solidFill>
                  <a:srgbClr val="014C89"/>
                </a:solidFill>
                <a:latin typeface="Consolas" panose="020B0609020204030204" pitchFamily="49" charset="0"/>
                <a:cs typeface="Consolas" panose="020B0609020204030204" pitchFamily="49" charset="0"/>
              </a:rPr>
              <a:t> = https://</a:t>
            </a:r>
            <a:r>
              <a:rPr lang="en-US" sz="1600" dirty="0" err="1">
                <a:solidFill>
                  <a:srgbClr val="014C89"/>
                </a:solidFill>
                <a:latin typeface="Consolas" panose="020B0609020204030204" pitchFamily="49" charset="0"/>
                <a:cs typeface="Consolas" panose="020B0609020204030204" pitchFamily="49" charset="0"/>
              </a:rPr>
              <a:t>graph.microsoft.com</a:t>
            </a:r>
            <a:r>
              <a:rPr lang="en-US" sz="1600" dirty="0">
                <a:solidFill>
                  <a:srgbClr val="014C89"/>
                </a:solidFill>
                <a:latin typeface="Consolas" panose="020B0609020204030204" pitchFamily="49" charset="0"/>
                <a:cs typeface="Consolas" panose="020B0609020204030204" pitchFamily="49" charset="0"/>
              </a:rPr>
              <a:t>/beta</a:t>
            </a:r>
          </a:p>
          <a:p>
            <a:r>
              <a:rPr lang="en-US" sz="1600" dirty="0">
                <a:solidFill>
                  <a:srgbClr val="014C89"/>
                </a:solidFill>
                <a:latin typeface="Consolas" panose="020B0609020204030204" pitchFamily="49" charset="0"/>
                <a:cs typeface="Consolas" panose="020B0609020204030204" pitchFamily="49" charset="0"/>
              </a:rPr>
              <a:t>@</a:t>
            </a:r>
            <a:r>
              <a:rPr lang="en-US" sz="1600" dirty="0" err="1">
                <a:solidFill>
                  <a:srgbClr val="014C89"/>
                </a:solidFill>
                <a:latin typeface="Consolas" panose="020B0609020204030204" pitchFamily="49" charset="0"/>
                <a:cs typeface="Consolas" panose="020B0609020204030204" pitchFamily="49" charset="0"/>
              </a:rPr>
              <a:t>access_token</a:t>
            </a:r>
            <a:r>
              <a:rPr lang="en-US" sz="1600" dirty="0">
                <a:solidFill>
                  <a:srgbClr val="014C89"/>
                </a:solidFill>
                <a:latin typeface="Consolas" panose="020B0609020204030204" pitchFamily="49" charset="0"/>
                <a:cs typeface="Consolas" panose="020B0609020204030204" pitchFamily="49" charset="0"/>
              </a:rPr>
              <a:t> = YOUR_ACCESS_TOKEN_HERE</a:t>
            </a:r>
          </a:p>
          <a:p>
            <a:endParaRPr lang="en-US" sz="1600" dirty="0">
              <a:solidFill>
                <a:srgbClr val="014C89"/>
              </a:solidFill>
              <a:latin typeface="Consolas" panose="020B0609020204030204" pitchFamily="49" charset="0"/>
              <a:cs typeface="Consolas" panose="020B0609020204030204" pitchFamily="49" charset="0"/>
            </a:endParaRPr>
          </a:p>
          <a:p>
            <a:r>
              <a:rPr lang="en-US" sz="1600" dirty="0">
                <a:solidFill>
                  <a:srgbClr val="014C89"/>
                </a:solidFill>
                <a:latin typeface="Consolas" panose="020B0609020204030204" pitchFamily="49" charset="0"/>
                <a:cs typeface="Consolas" panose="020B0609020204030204" pitchFamily="49" charset="0"/>
              </a:rPr>
              <a:t>POST {{</a:t>
            </a:r>
            <a:r>
              <a:rPr lang="en-US" sz="1600" dirty="0" err="1">
                <a:solidFill>
                  <a:srgbClr val="014C89"/>
                </a:solidFill>
                <a:latin typeface="Consolas" panose="020B0609020204030204" pitchFamily="49" charset="0"/>
                <a:cs typeface="Consolas" panose="020B0609020204030204" pitchFamily="49" charset="0"/>
              </a:rPr>
              <a:t>baseUrl</a:t>
            </a:r>
            <a:r>
              <a:rPr lang="en-US" sz="1600" dirty="0">
                <a:solidFill>
                  <a:srgbClr val="014C89"/>
                </a:solidFill>
                <a:latin typeface="Consolas" panose="020B0609020204030204" pitchFamily="49" charset="0"/>
                <a:cs typeface="Consolas" panose="020B0609020204030204" pitchFamily="49" charset="0"/>
              </a:rPr>
              <a:t>}}/admin/</a:t>
            </a:r>
            <a:r>
              <a:rPr lang="en-US" sz="1600" dirty="0" err="1">
                <a:solidFill>
                  <a:srgbClr val="014C89"/>
                </a:solidFill>
                <a:latin typeface="Consolas" panose="020B0609020204030204" pitchFamily="49" charset="0"/>
                <a:cs typeface="Consolas" panose="020B0609020204030204" pitchFamily="49" charset="0"/>
              </a:rPr>
              <a:t>configurationManagement</a:t>
            </a:r>
            <a:r>
              <a:rPr lang="en-US" sz="1600" dirty="0">
                <a:solidFill>
                  <a:srgbClr val="014C89"/>
                </a:solidFill>
                <a:latin typeface="Consolas" panose="020B0609020204030204" pitchFamily="49" charset="0"/>
                <a:cs typeface="Consolas" panose="020B0609020204030204" pitchFamily="49" charset="0"/>
              </a:rPr>
              <a:t>/</a:t>
            </a:r>
            <a:r>
              <a:rPr lang="en-US" sz="1600" dirty="0" err="1">
                <a:solidFill>
                  <a:srgbClr val="014C89"/>
                </a:solidFill>
                <a:latin typeface="Consolas" panose="020B0609020204030204" pitchFamily="49" charset="0"/>
                <a:cs typeface="Consolas" panose="020B0609020204030204" pitchFamily="49" charset="0"/>
              </a:rPr>
              <a:t>configurationSnapshots</a:t>
            </a:r>
            <a:r>
              <a:rPr lang="en-US" sz="1600" dirty="0">
                <a:solidFill>
                  <a:srgbClr val="014C89"/>
                </a:solidFill>
                <a:latin typeface="Consolas" panose="020B0609020204030204" pitchFamily="49" charset="0"/>
                <a:cs typeface="Consolas" panose="020B0609020204030204" pitchFamily="49" charset="0"/>
              </a:rPr>
              <a:t>/</a:t>
            </a:r>
            <a:r>
              <a:rPr lang="en-US" sz="1600" dirty="0" err="1">
                <a:solidFill>
                  <a:srgbClr val="014C89"/>
                </a:solidFill>
                <a:latin typeface="Consolas" panose="020B0609020204030204" pitchFamily="49" charset="0"/>
                <a:cs typeface="Consolas" panose="020B0609020204030204" pitchFamily="49" charset="0"/>
              </a:rPr>
              <a:t>createSnapshot</a:t>
            </a:r>
            <a:endParaRPr lang="en-US" sz="1600" dirty="0">
              <a:solidFill>
                <a:srgbClr val="014C89"/>
              </a:solidFill>
              <a:latin typeface="Consolas" panose="020B0609020204030204" pitchFamily="49" charset="0"/>
              <a:cs typeface="Consolas" panose="020B0609020204030204" pitchFamily="49" charset="0"/>
            </a:endParaRPr>
          </a:p>
          <a:p>
            <a:r>
              <a:rPr lang="en-US" sz="1600" dirty="0">
                <a:solidFill>
                  <a:srgbClr val="014C89"/>
                </a:solidFill>
                <a:latin typeface="Consolas" panose="020B0609020204030204" pitchFamily="49" charset="0"/>
                <a:cs typeface="Consolas" panose="020B0609020204030204" pitchFamily="49" charset="0"/>
              </a:rPr>
              <a:t>Content-type: application/</a:t>
            </a:r>
            <a:r>
              <a:rPr lang="en-US" sz="1600" dirty="0" err="1">
                <a:solidFill>
                  <a:srgbClr val="014C89"/>
                </a:solidFill>
                <a:latin typeface="Consolas" panose="020B0609020204030204" pitchFamily="49" charset="0"/>
                <a:cs typeface="Consolas" panose="020B0609020204030204" pitchFamily="49" charset="0"/>
              </a:rPr>
              <a:t>json</a:t>
            </a:r>
            <a:endParaRPr lang="en-US" sz="1600" dirty="0">
              <a:solidFill>
                <a:srgbClr val="014C89"/>
              </a:solidFill>
              <a:latin typeface="Consolas" panose="020B0609020204030204" pitchFamily="49" charset="0"/>
              <a:cs typeface="Consolas" panose="020B0609020204030204" pitchFamily="49" charset="0"/>
            </a:endParaRPr>
          </a:p>
          <a:p>
            <a:r>
              <a:rPr lang="en-US" sz="1600" dirty="0">
                <a:solidFill>
                  <a:srgbClr val="014C89"/>
                </a:solidFill>
                <a:latin typeface="Consolas" panose="020B0609020204030204" pitchFamily="49" charset="0"/>
                <a:cs typeface="Consolas" panose="020B0609020204030204" pitchFamily="49" charset="0"/>
              </a:rPr>
              <a:t>Authorization: Bearer {{</a:t>
            </a:r>
            <a:r>
              <a:rPr lang="en-US" sz="1600" dirty="0" err="1">
                <a:solidFill>
                  <a:srgbClr val="014C89"/>
                </a:solidFill>
                <a:latin typeface="Consolas" panose="020B0609020204030204" pitchFamily="49" charset="0"/>
                <a:cs typeface="Consolas" panose="020B0609020204030204" pitchFamily="49" charset="0"/>
              </a:rPr>
              <a:t>access_token</a:t>
            </a:r>
            <a:r>
              <a:rPr lang="en-US" sz="1600" dirty="0">
                <a:solidFill>
                  <a:srgbClr val="014C89"/>
                </a:solidFill>
                <a:latin typeface="Consolas" panose="020B0609020204030204" pitchFamily="49" charset="0"/>
                <a:cs typeface="Consolas" panose="020B0609020204030204" pitchFamily="49" charset="0"/>
              </a:rPr>
              <a:t>}}</a:t>
            </a:r>
          </a:p>
          <a:p>
            <a:endParaRPr lang="en-US" sz="1600" dirty="0">
              <a:solidFill>
                <a:srgbClr val="014C89"/>
              </a:solidFill>
              <a:latin typeface="Consolas" panose="020B0609020204030204" pitchFamily="49" charset="0"/>
              <a:cs typeface="Consolas" panose="020B0609020204030204" pitchFamily="49" charset="0"/>
            </a:endParaRPr>
          </a:p>
          <a:p>
            <a:r>
              <a:rPr lang="en-US" sz="1600" dirty="0">
                <a:solidFill>
                  <a:srgbClr val="014C89"/>
                </a:solidFill>
                <a:latin typeface="Consolas" panose="020B0609020204030204" pitchFamily="49" charset="0"/>
                <a:cs typeface="Consolas" panose="020B0609020204030204" pitchFamily="49" charset="0"/>
              </a:rPr>
              <a:t>{</a:t>
            </a:r>
          </a:p>
          <a:p>
            <a:r>
              <a:rPr lang="en-US" sz="1600" dirty="0">
                <a:solidFill>
                  <a:srgbClr val="014C89"/>
                </a:solidFill>
                <a:latin typeface="Consolas" panose="020B0609020204030204" pitchFamily="49" charset="0"/>
                <a:cs typeface="Consolas" panose="020B0609020204030204" pitchFamily="49" charset="0"/>
              </a:rPr>
              <a:t>  "</a:t>
            </a:r>
            <a:r>
              <a:rPr lang="en-US" sz="1600" dirty="0" err="1">
                <a:solidFill>
                  <a:srgbClr val="014C89"/>
                </a:solidFill>
                <a:latin typeface="Consolas" panose="020B0609020204030204" pitchFamily="49" charset="0"/>
                <a:cs typeface="Consolas" panose="020B0609020204030204" pitchFamily="49" charset="0"/>
              </a:rPr>
              <a:t>displayName</a:t>
            </a:r>
            <a:r>
              <a:rPr lang="en-US" sz="1600" dirty="0">
                <a:solidFill>
                  <a:srgbClr val="014C89"/>
                </a:solidFill>
                <a:latin typeface="Consolas" panose="020B0609020204030204" pitchFamily="49" charset="0"/>
                <a:cs typeface="Consolas" panose="020B0609020204030204" pitchFamily="49" charset="0"/>
              </a:rPr>
              <a:t>": "Snapshot Demo",</a:t>
            </a:r>
          </a:p>
          <a:p>
            <a:r>
              <a:rPr lang="en-US" sz="1600" dirty="0">
                <a:solidFill>
                  <a:srgbClr val="014C89"/>
                </a:solidFill>
                <a:latin typeface="Consolas" panose="020B0609020204030204" pitchFamily="49" charset="0"/>
                <a:cs typeface="Consolas" panose="020B0609020204030204" pitchFamily="49" charset="0"/>
              </a:rPr>
              <a:t>  "description": "This is Snapshot Description",</a:t>
            </a:r>
          </a:p>
          <a:p>
            <a:r>
              <a:rPr lang="en-US" sz="1600" dirty="0">
                <a:solidFill>
                  <a:srgbClr val="014C89"/>
                </a:solidFill>
                <a:latin typeface="Consolas" panose="020B0609020204030204" pitchFamily="49" charset="0"/>
                <a:cs typeface="Consolas" panose="020B0609020204030204" pitchFamily="49" charset="0"/>
              </a:rPr>
              <a:t>  "resources": [</a:t>
            </a:r>
          </a:p>
          <a:p>
            <a:r>
              <a:rPr lang="en-US" sz="1600" dirty="0">
                <a:solidFill>
                  <a:srgbClr val="014C89"/>
                </a:solidFill>
                <a:latin typeface="Consolas" panose="020B0609020204030204" pitchFamily="49" charset="0"/>
                <a:cs typeface="Consolas" panose="020B0609020204030204" pitchFamily="49" charset="0"/>
              </a:rPr>
              <a:t>    "</a:t>
            </a:r>
            <a:r>
              <a:rPr lang="en-US" sz="1600" dirty="0" err="1">
                <a:solidFill>
                  <a:srgbClr val="014C89"/>
                </a:solidFill>
                <a:latin typeface="Consolas" panose="020B0609020204030204" pitchFamily="49" charset="0"/>
                <a:cs typeface="Consolas" panose="020B0609020204030204" pitchFamily="49" charset="0"/>
              </a:rPr>
              <a:t>microsoft.entra.user</a:t>
            </a:r>
            <a:r>
              <a:rPr lang="en-US" sz="1600" dirty="0">
                <a:solidFill>
                  <a:srgbClr val="014C89"/>
                </a:solidFill>
                <a:latin typeface="Consolas" panose="020B0609020204030204" pitchFamily="49" charset="0"/>
                <a:cs typeface="Consolas" panose="020B0609020204030204" pitchFamily="49" charset="0"/>
              </a:rPr>
              <a:t>"</a:t>
            </a:r>
          </a:p>
          <a:p>
            <a:r>
              <a:rPr lang="en-US" sz="1600" dirty="0">
                <a:solidFill>
                  <a:srgbClr val="014C89"/>
                </a:solidFill>
                <a:latin typeface="Consolas" panose="020B0609020204030204" pitchFamily="49" charset="0"/>
                <a:cs typeface="Consolas" panose="020B0609020204030204" pitchFamily="49" charset="0"/>
              </a:rPr>
              <a:t>  ]</a:t>
            </a:r>
          </a:p>
          <a:p>
            <a:r>
              <a:rPr lang="en-US" sz="1600" dirty="0">
                <a:solidFill>
                  <a:srgbClr val="014C89"/>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128701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A7CC6D42-F3A1-CD00-74FD-1751BB28379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7C26560-3222-B6AC-8818-2628657B06EC}"/>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Snapshot</a:t>
            </a:r>
          </a:p>
        </p:txBody>
      </p:sp>
      <p:cxnSp>
        <p:nvCxnSpPr>
          <p:cNvPr id="5" name="Straight Connector 4">
            <a:extLst>
              <a:ext uri="{FF2B5EF4-FFF2-40B4-BE49-F238E27FC236}">
                <a16:creationId xmlns:a16="http://schemas.microsoft.com/office/drawing/2014/main" id="{188E9314-AD54-38C2-6904-7A9EA3128FC3}"/>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DC67C5C-60E5-15FA-1BC6-BAC4C104BAC3}"/>
              </a:ext>
            </a:extLst>
          </p:cNvPr>
          <p:cNvSpPr txBox="1"/>
          <p:nvPr/>
        </p:nvSpPr>
        <p:spPr>
          <a:xfrm>
            <a:off x="614442" y="1413063"/>
            <a:ext cx="10842451" cy="5355312"/>
          </a:xfrm>
          <a:prstGeom prst="rect">
            <a:avLst/>
          </a:prstGeom>
          <a:noFill/>
        </p:spPr>
        <p:txBody>
          <a:bodyPr wrap="square" rtlCol="0">
            <a:spAutoFit/>
          </a:bodyPr>
          <a:lstStyle/>
          <a:p>
            <a:r>
              <a:rPr lang="en-US" sz="950" dirty="0">
                <a:solidFill>
                  <a:srgbClr val="014C89"/>
                </a:solidFill>
                <a:latin typeface="Consolas" panose="020B0609020204030204" pitchFamily="49" charset="0"/>
                <a:cs typeface="Consolas" panose="020B0609020204030204" pitchFamily="49" charset="0"/>
              </a:rPr>
              <a:t>{"resources": [</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displayName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AADUser</a:t>
            </a:r>
            <a:r>
              <a:rPr lang="en-US" sz="950" dirty="0">
                <a:solidFill>
                  <a:srgbClr val="014C89"/>
                </a:solidFill>
                <a:latin typeface="Consolas" panose="020B0609020204030204" pitchFamily="49" charset="0"/>
                <a:cs typeface="Consolas" panose="020B0609020204030204" pitchFamily="49" charset="0"/>
              </a:rPr>
              <a:t>-Harry Potter",</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resourceType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microsoft.entra.user</a:t>
            </a:r>
            <a:r>
              <a:rPr lang="en-US" sz="950" dirty="0">
                <a:solidFill>
                  <a:srgbClr val="014C89"/>
                </a:solidFill>
                <a:latin typeface="Consolas" panose="020B0609020204030204" pitchFamily="49" charset="0"/>
                <a:cs typeface="Consolas" panose="020B0609020204030204" pitchFamily="49" charset="0"/>
              </a:rPr>
              <a:t>",</a:t>
            </a:r>
          </a:p>
          <a:p>
            <a:r>
              <a:rPr lang="en-US" sz="950" dirty="0">
                <a:solidFill>
                  <a:srgbClr val="014C89"/>
                </a:solidFill>
                <a:latin typeface="Consolas" panose="020B0609020204030204" pitchFamily="49" charset="0"/>
                <a:cs typeface="Consolas" panose="020B0609020204030204" pitchFamily="49" charset="0"/>
              </a:rPr>
              <a:t>      "properties": {</a:t>
            </a:r>
          </a:p>
          <a:p>
            <a:r>
              <a:rPr lang="en-US" sz="950" dirty="0">
                <a:solidFill>
                  <a:srgbClr val="014C89"/>
                </a:solidFill>
                <a:latin typeface="Consolas" panose="020B0609020204030204" pitchFamily="49" charset="0"/>
                <a:cs typeface="Consolas" panose="020B0609020204030204" pitchFamily="49" charset="0"/>
              </a:rPr>
              <a:t>        "LastName": "Potter",</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UserPrincipalName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HPotter@aliciamarie.net</a:t>
            </a:r>
            <a:r>
              <a:rPr lang="en-US" sz="950" dirty="0">
                <a:solidFill>
                  <a:srgbClr val="014C89"/>
                </a:solidFill>
                <a:latin typeface="Consolas" panose="020B0609020204030204" pitchFamily="49" charset="0"/>
                <a:cs typeface="Consolas" panose="020B0609020204030204" pitchFamily="49" charset="0"/>
              </a:rPr>
              <a:t>",</a:t>
            </a:r>
          </a:p>
          <a:p>
            <a:r>
              <a:rPr lang="en-US" sz="950" dirty="0">
                <a:solidFill>
                  <a:srgbClr val="014C89"/>
                </a:solidFill>
                <a:latin typeface="Consolas" panose="020B0609020204030204" pitchFamily="49" charset="0"/>
                <a:cs typeface="Consolas" panose="020B0609020204030204" pitchFamily="49" charset="0"/>
              </a:rPr>
              <a:t>        "PasswordNeverExpires": false,</a:t>
            </a:r>
          </a:p>
          <a:p>
            <a:r>
              <a:rPr lang="en-US" sz="950" dirty="0">
                <a:solidFill>
                  <a:srgbClr val="014C89"/>
                </a:solidFill>
                <a:latin typeface="Consolas" panose="020B0609020204030204" pitchFamily="49" charset="0"/>
                <a:cs typeface="Consolas" panose="020B0609020204030204" pitchFamily="49" charset="0"/>
              </a:rPr>
              <a:t>        "Ensure": "Present",</a:t>
            </a:r>
          </a:p>
          <a:p>
            <a:r>
              <a:rPr lang="en-US" sz="950" dirty="0">
                <a:solidFill>
                  <a:srgbClr val="014C89"/>
                </a:solidFill>
                <a:latin typeface="Consolas" panose="020B0609020204030204" pitchFamily="49" charset="0"/>
                <a:cs typeface="Consolas" panose="020B0609020204030204" pitchFamily="49" charset="0"/>
              </a:rPr>
              <a:t>        "DisplayName": "Harry Potter",</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UserType</a:t>
            </a:r>
            <a:r>
              <a:rPr lang="en-US" sz="950" dirty="0">
                <a:solidFill>
                  <a:srgbClr val="014C89"/>
                </a:solidFill>
                <a:latin typeface="Consolas" panose="020B0609020204030204" pitchFamily="49" charset="0"/>
                <a:cs typeface="Consolas" panose="020B0609020204030204" pitchFamily="49" charset="0"/>
              </a:rPr>
              <a:t>": "Member",</a:t>
            </a:r>
          </a:p>
          <a:p>
            <a:r>
              <a:rPr lang="en-US" sz="950" dirty="0">
                <a:solidFill>
                  <a:srgbClr val="014C89"/>
                </a:solidFill>
                <a:latin typeface="Consolas" panose="020B0609020204030204" pitchFamily="49" charset="0"/>
                <a:cs typeface="Consolas" panose="020B0609020204030204" pitchFamily="49" charset="0"/>
              </a:rPr>
              <a:t>        "FirstName": "Harry",</a:t>
            </a:r>
          </a:p>
          <a:p>
            <a:r>
              <a:rPr lang="en-US" sz="950" dirty="0">
                <a:solidFill>
                  <a:srgbClr val="014C89"/>
                </a:solidFill>
                <a:latin typeface="Consolas" panose="020B0609020204030204" pitchFamily="49" charset="0"/>
                <a:cs typeface="Consolas" panose="020B0609020204030204" pitchFamily="49" charset="0"/>
              </a:rPr>
              <a:t>        "Department": "IT",</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LicenseAssignment</a:t>
            </a:r>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"Roles": []</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displayName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AADUser</a:t>
            </a:r>
            <a:r>
              <a:rPr lang="en-US" sz="950" dirty="0">
                <a:solidFill>
                  <a:srgbClr val="014C89"/>
                </a:solidFill>
                <a:latin typeface="Consolas" panose="020B0609020204030204" pitchFamily="49" charset="0"/>
                <a:cs typeface="Consolas" panose="020B0609020204030204" pitchFamily="49" charset="0"/>
              </a:rPr>
              <a:t>-William Cool",</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resourceType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microsoft.entra.user</a:t>
            </a:r>
            <a:r>
              <a:rPr lang="en-US" sz="950" dirty="0">
                <a:solidFill>
                  <a:srgbClr val="014C89"/>
                </a:solidFill>
                <a:latin typeface="Consolas" panose="020B0609020204030204" pitchFamily="49" charset="0"/>
                <a:cs typeface="Consolas" panose="020B0609020204030204" pitchFamily="49" charset="0"/>
              </a:rPr>
              <a:t>",</a:t>
            </a:r>
          </a:p>
          <a:p>
            <a:r>
              <a:rPr lang="en-US" sz="950" dirty="0">
                <a:solidFill>
                  <a:srgbClr val="014C89"/>
                </a:solidFill>
                <a:latin typeface="Consolas" panose="020B0609020204030204" pitchFamily="49" charset="0"/>
                <a:cs typeface="Consolas" panose="020B0609020204030204" pitchFamily="49" charset="0"/>
              </a:rPr>
              <a:t>      "properties": {</a:t>
            </a:r>
          </a:p>
          <a:p>
            <a:r>
              <a:rPr lang="en-US" sz="950" dirty="0">
                <a:solidFill>
                  <a:srgbClr val="014C89"/>
                </a:solidFill>
                <a:latin typeface="Consolas" panose="020B0609020204030204" pitchFamily="49" charset="0"/>
                <a:cs typeface="Consolas" panose="020B0609020204030204" pitchFamily="49" charset="0"/>
              </a:rPr>
              <a:t>        "Department": "IT",</a:t>
            </a:r>
          </a:p>
          <a:p>
            <a:r>
              <a:rPr lang="en-US" sz="950" dirty="0">
                <a:solidFill>
                  <a:srgbClr val="014C89"/>
                </a:solidFill>
                <a:latin typeface="Consolas" panose="020B0609020204030204" pitchFamily="49" charset="0"/>
                <a:cs typeface="Consolas" panose="020B0609020204030204" pitchFamily="49" charset="0"/>
              </a:rPr>
              <a:t>        "LastName": "Cool",</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UserPrincipalName</a:t>
            </a:r>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WCool@thelazyadministrator.com</a:t>
            </a:r>
            <a:r>
              <a:rPr lang="en-US" sz="950" dirty="0">
                <a:solidFill>
                  <a:srgbClr val="014C89"/>
                </a:solidFill>
                <a:latin typeface="Consolas" panose="020B0609020204030204" pitchFamily="49" charset="0"/>
                <a:cs typeface="Consolas" panose="020B0609020204030204" pitchFamily="49" charset="0"/>
              </a:rPr>
              <a:t>",</a:t>
            </a:r>
          </a:p>
          <a:p>
            <a:r>
              <a:rPr lang="en-US" sz="950" dirty="0">
                <a:solidFill>
                  <a:srgbClr val="014C89"/>
                </a:solidFill>
                <a:latin typeface="Consolas" panose="020B0609020204030204" pitchFamily="49" charset="0"/>
                <a:cs typeface="Consolas" panose="020B0609020204030204" pitchFamily="49" charset="0"/>
              </a:rPr>
              <a:t>        "PasswordNeverExpires": false,</a:t>
            </a:r>
          </a:p>
          <a:p>
            <a:r>
              <a:rPr lang="en-US" sz="950" dirty="0">
                <a:solidFill>
                  <a:srgbClr val="014C89"/>
                </a:solidFill>
                <a:latin typeface="Consolas" panose="020B0609020204030204" pitchFamily="49" charset="0"/>
                <a:cs typeface="Consolas" panose="020B0609020204030204" pitchFamily="49" charset="0"/>
              </a:rPr>
              <a:t>        "Ensure": "Present",</a:t>
            </a:r>
          </a:p>
          <a:p>
            <a:r>
              <a:rPr lang="en-US" sz="950" dirty="0">
                <a:solidFill>
                  <a:srgbClr val="014C89"/>
                </a:solidFill>
                <a:latin typeface="Consolas" panose="020B0609020204030204" pitchFamily="49" charset="0"/>
                <a:cs typeface="Consolas" panose="020B0609020204030204" pitchFamily="49" charset="0"/>
              </a:rPr>
              <a:t>        "DisplayName": "William Cool",</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UserType</a:t>
            </a:r>
            <a:r>
              <a:rPr lang="en-US" sz="950" dirty="0">
                <a:solidFill>
                  <a:srgbClr val="014C89"/>
                </a:solidFill>
                <a:latin typeface="Consolas" panose="020B0609020204030204" pitchFamily="49" charset="0"/>
                <a:cs typeface="Consolas" panose="020B0609020204030204" pitchFamily="49" charset="0"/>
              </a:rPr>
              <a:t>": "Member",</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UsageLocation</a:t>
            </a:r>
            <a:r>
              <a:rPr lang="en-US" sz="950" dirty="0">
                <a:solidFill>
                  <a:srgbClr val="014C89"/>
                </a:solidFill>
                <a:latin typeface="Consolas" panose="020B0609020204030204" pitchFamily="49" charset="0"/>
                <a:cs typeface="Consolas" panose="020B0609020204030204" pitchFamily="49" charset="0"/>
              </a:rPr>
              <a:t>": "US",</a:t>
            </a:r>
          </a:p>
          <a:p>
            <a:r>
              <a:rPr lang="en-US" sz="950" dirty="0">
                <a:solidFill>
                  <a:srgbClr val="014C89"/>
                </a:solidFill>
                <a:latin typeface="Consolas" panose="020B0609020204030204" pitchFamily="49" charset="0"/>
                <a:cs typeface="Consolas" panose="020B0609020204030204" pitchFamily="49" charset="0"/>
              </a:rPr>
              <a:t>        "FirstName": "William",</a:t>
            </a:r>
          </a:p>
          <a:p>
            <a:r>
              <a:rPr lang="en-US" sz="950" dirty="0">
                <a:solidFill>
                  <a:srgbClr val="014C89"/>
                </a:solidFill>
                <a:latin typeface="Consolas" panose="020B0609020204030204" pitchFamily="49" charset="0"/>
                <a:cs typeface="Consolas" panose="020B0609020204030204" pitchFamily="49" charset="0"/>
              </a:rPr>
              <a:t>        "</a:t>
            </a:r>
            <a:r>
              <a:rPr lang="en-US" sz="950" dirty="0" err="1">
                <a:solidFill>
                  <a:srgbClr val="014C89"/>
                </a:solidFill>
                <a:latin typeface="Consolas" panose="020B0609020204030204" pitchFamily="49" charset="0"/>
                <a:cs typeface="Consolas" panose="020B0609020204030204" pitchFamily="49" charset="0"/>
              </a:rPr>
              <a:t>LicenseAssignment</a:t>
            </a:r>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"FLOW_FREE"</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"Roles": []</a:t>
            </a:r>
          </a:p>
          <a:p>
            <a:r>
              <a:rPr lang="en-US" sz="950" dirty="0">
                <a:solidFill>
                  <a:srgbClr val="014C89"/>
                </a:solidFill>
                <a:latin typeface="Consolas" panose="020B0609020204030204" pitchFamily="49" charset="0"/>
                <a:cs typeface="Consolas" panose="020B0609020204030204" pitchFamily="49" charset="0"/>
              </a:rPr>
              <a:t>      }</a:t>
            </a:r>
          </a:p>
          <a:p>
            <a:r>
              <a:rPr lang="en-US" sz="950" dirty="0">
                <a:solidFill>
                  <a:srgbClr val="014C89"/>
                </a:solidFill>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958974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C1EC899F-414D-9F4F-1315-1F7E8D85FDF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A1D3ACB-F4BF-A782-AB72-167CA7CBFFEA}"/>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Baseline</a:t>
            </a:r>
          </a:p>
        </p:txBody>
      </p:sp>
      <p:cxnSp>
        <p:nvCxnSpPr>
          <p:cNvPr id="5" name="Straight Connector 4">
            <a:extLst>
              <a:ext uri="{FF2B5EF4-FFF2-40B4-BE49-F238E27FC236}">
                <a16:creationId xmlns:a16="http://schemas.microsoft.com/office/drawing/2014/main" id="{2DAD7267-EB7B-EA9E-3CE8-40D4260B363D}"/>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DFE42AB-B35B-936F-CBA0-E7F323D7D3F9}"/>
              </a:ext>
            </a:extLst>
          </p:cNvPr>
          <p:cNvSpPr txBox="1"/>
          <p:nvPr/>
        </p:nvSpPr>
        <p:spPr>
          <a:xfrm>
            <a:off x="614445" y="1524000"/>
            <a:ext cx="11344473" cy="1818255"/>
          </a:xfrm>
          <a:prstGeom prst="rect">
            <a:avLst/>
          </a:prstGeom>
          <a:noFill/>
        </p:spPr>
        <p:txBody>
          <a:bodyPr wrap="square" rtlCol="0">
            <a:spAutoFit/>
          </a:bodyPr>
          <a:lstStyle/>
          <a:p>
            <a:pPr>
              <a:lnSpc>
                <a:spcPct val="150000"/>
              </a:lnSpc>
            </a:pPr>
            <a:r>
              <a:rPr lang="en-US" dirty="0">
                <a:solidFill>
                  <a:srgbClr val="014C89"/>
                </a:solidFill>
              </a:rPr>
              <a:t>Represents a resource and its desired configuration</a:t>
            </a:r>
          </a:p>
          <a:p>
            <a:pPr marL="285750" indent="-285750">
              <a:lnSpc>
                <a:spcPct val="150000"/>
              </a:lnSpc>
              <a:buFont typeface="Arial" panose="020B0604020202020204" pitchFamily="34" charset="0"/>
              <a:buChar char="•"/>
            </a:pPr>
            <a:r>
              <a:rPr lang="en-US" dirty="0">
                <a:solidFill>
                  <a:srgbClr val="014C89"/>
                </a:solidFill>
              </a:rPr>
              <a:t>Often built from a snapshot</a:t>
            </a:r>
          </a:p>
          <a:p>
            <a:pPr marL="285750" indent="-285750">
              <a:lnSpc>
                <a:spcPct val="150000"/>
              </a:lnSpc>
              <a:buFont typeface="Arial" panose="020B0604020202020204" pitchFamily="34" charset="0"/>
              <a:buChar char="•"/>
            </a:pPr>
            <a:r>
              <a:rPr lang="en-US" dirty="0">
                <a:solidFill>
                  <a:srgbClr val="014C89"/>
                </a:solidFill>
              </a:rPr>
              <a:t>Can also be manually defined </a:t>
            </a:r>
          </a:p>
          <a:p>
            <a:pPr>
              <a:lnSpc>
                <a:spcPct val="200000"/>
              </a:lnSpc>
            </a:pPr>
            <a:endParaRPr lang="en-US" dirty="0">
              <a:solidFill>
                <a:srgbClr val="014C89"/>
              </a:solidFill>
            </a:endParaRPr>
          </a:p>
        </p:txBody>
      </p:sp>
      <p:sp>
        <p:nvSpPr>
          <p:cNvPr id="4" name="TextBox 3">
            <a:extLst>
              <a:ext uri="{FF2B5EF4-FFF2-40B4-BE49-F238E27FC236}">
                <a16:creationId xmlns:a16="http://schemas.microsoft.com/office/drawing/2014/main" id="{C5E70788-3323-5BB9-8D5B-96F2E66D256E}"/>
              </a:ext>
            </a:extLst>
          </p:cNvPr>
          <p:cNvSpPr txBox="1"/>
          <p:nvPr/>
        </p:nvSpPr>
        <p:spPr>
          <a:xfrm>
            <a:off x="614443" y="3429000"/>
            <a:ext cx="6705600" cy="2923877"/>
          </a:xfrm>
          <a:prstGeom prst="rect">
            <a:avLst/>
          </a:prstGeom>
          <a:noFill/>
        </p:spPr>
        <p:txBody>
          <a:bodyPr wrap="square" rtlCol="0">
            <a:spAutoFit/>
          </a:bodyPr>
          <a:lstStyle/>
          <a:p>
            <a:pPr>
              <a:lnSpc>
                <a:spcPct val="150000"/>
              </a:lnSpc>
            </a:pPr>
            <a:r>
              <a:rPr lang="en-US" sz="1600" b="1" dirty="0">
                <a:solidFill>
                  <a:srgbClr val="014C89"/>
                </a:solidFill>
              </a:rPr>
              <a:t>Resource: </a:t>
            </a:r>
            <a:r>
              <a:rPr lang="en-US" sz="1600" dirty="0" err="1">
                <a:solidFill>
                  <a:srgbClr val="014C89"/>
                </a:solidFill>
                <a:latin typeface="Consolas" panose="020B0609020204030204" pitchFamily="49" charset="0"/>
                <a:cs typeface="Consolas" panose="020B0609020204030204" pitchFamily="49" charset="0"/>
              </a:rPr>
              <a:t>configurationMonitors</a:t>
            </a:r>
            <a:r>
              <a:rPr lang="en-US" sz="1600" dirty="0">
                <a:solidFill>
                  <a:srgbClr val="014C89"/>
                </a:solidFill>
                <a:latin typeface="Consolas" panose="020B0609020204030204" pitchFamily="49" charset="0"/>
                <a:cs typeface="Consolas" panose="020B0609020204030204" pitchFamily="49" charset="0"/>
              </a:rPr>
              <a:t>/[id]/baseline</a:t>
            </a:r>
          </a:p>
          <a:p>
            <a:pPr>
              <a:lnSpc>
                <a:spcPct val="150000"/>
              </a:lnSpc>
            </a:pPr>
            <a:r>
              <a:rPr lang="en-US" sz="1600" b="1" dirty="0">
                <a:solidFill>
                  <a:srgbClr val="014C89"/>
                </a:solidFill>
              </a:rPr>
              <a:t>What it does</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Defines the desired state</a:t>
            </a:r>
          </a:p>
          <a:p>
            <a:pPr marL="285750" indent="-285750">
              <a:lnSpc>
                <a:spcPct val="150000"/>
              </a:lnSpc>
              <a:buFont typeface="Arial" panose="020B0604020202020204" pitchFamily="34" charset="0"/>
              <a:buChar char="•"/>
            </a:pPr>
            <a:r>
              <a:rPr lang="en-US" sz="1600" dirty="0">
                <a:solidFill>
                  <a:srgbClr val="014C89"/>
                </a:solidFill>
              </a:rPr>
              <a:t>Often built from a snapshot</a:t>
            </a:r>
          </a:p>
          <a:p>
            <a:pPr>
              <a:lnSpc>
                <a:spcPct val="150000"/>
              </a:lnSpc>
            </a:pPr>
            <a:r>
              <a:rPr lang="en-US" sz="1600" b="1" dirty="0">
                <a:solidFill>
                  <a:srgbClr val="014C89"/>
                </a:solidFill>
              </a:rPr>
              <a:t>Used to</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Defines the desired state of your tenant (your “gold standard” config).</a:t>
            </a:r>
          </a:p>
          <a:p>
            <a:pPr>
              <a:lnSpc>
                <a:spcPct val="150000"/>
              </a:lnSpc>
            </a:pPr>
            <a:r>
              <a:rPr lang="en-US" sz="1600" b="1" dirty="0">
                <a:solidFill>
                  <a:srgbClr val="014C89"/>
                </a:solidFill>
              </a:rPr>
              <a:t>Think</a:t>
            </a:r>
            <a:r>
              <a:rPr lang="en-US" sz="1600" dirty="0">
                <a:solidFill>
                  <a:srgbClr val="014C89"/>
                </a:solidFill>
              </a:rPr>
              <a:t>: “</a:t>
            </a:r>
            <a:r>
              <a:rPr lang="en-US" sz="1600" i="1" dirty="0">
                <a:solidFill>
                  <a:srgbClr val="014C89"/>
                </a:solidFill>
              </a:rPr>
              <a:t>What should my environment look like?”</a:t>
            </a:r>
          </a:p>
          <a:p>
            <a:endParaRPr lang="en-US" sz="1600" dirty="0"/>
          </a:p>
        </p:txBody>
      </p:sp>
    </p:spTree>
    <p:extLst>
      <p:ext uri="{BB962C8B-B14F-4D97-AF65-F5344CB8AC3E}">
        <p14:creationId xmlns:p14="http://schemas.microsoft.com/office/powerpoint/2010/main" val="1644890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7630A128-DD3E-53A0-96C7-F77BADD8669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3A1AEF0-4A30-193F-4CF4-3D3D31629CCE}"/>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Baseline</a:t>
            </a:r>
          </a:p>
        </p:txBody>
      </p:sp>
      <p:cxnSp>
        <p:nvCxnSpPr>
          <p:cNvPr id="5" name="Straight Connector 4">
            <a:extLst>
              <a:ext uri="{FF2B5EF4-FFF2-40B4-BE49-F238E27FC236}">
                <a16:creationId xmlns:a16="http://schemas.microsoft.com/office/drawing/2014/main" id="{DD7ACDC3-5A1C-DC6F-8FEF-7F0B2EECD5EC}"/>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1C3AAD3-8F6E-66ED-49FE-579004314764}"/>
              </a:ext>
            </a:extLst>
          </p:cNvPr>
          <p:cNvSpPr txBox="1"/>
          <p:nvPr/>
        </p:nvSpPr>
        <p:spPr>
          <a:xfrm>
            <a:off x="533759" y="1394852"/>
            <a:ext cx="11595487" cy="4893647"/>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odata.context</a:t>
            </a:r>
            <a:r>
              <a:rPr lang="en-US" sz="1200" dirty="0">
                <a:solidFill>
                  <a:srgbClr val="014C89"/>
                </a:solidFill>
                <a:latin typeface="Consolas" panose="020B0609020204030204" pitchFamily="49" charset="0"/>
                <a:cs typeface="Consolas" panose="020B0609020204030204" pitchFamily="49" charset="0"/>
              </a:rPr>
              <a:t>": "https://</a:t>
            </a:r>
            <a:r>
              <a:rPr lang="en-US" sz="1200" dirty="0" err="1">
                <a:solidFill>
                  <a:srgbClr val="014C89"/>
                </a:solidFill>
                <a:latin typeface="Consolas" panose="020B0609020204030204" pitchFamily="49" charset="0"/>
                <a:cs typeface="Consolas" panose="020B0609020204030204" pitchFamily="49" charset="0"/>
              </a:rPr>
              <a:t>graph.microsoft.com</a:t>
            </a:r>
            <a:r>
              <a:rPr lang="en-US" sz="1200" dirty="0">
                <a:solidFill>
                  <a:srgbClr val="014C89"/>
                </a:solidFill>
                <a:latin typeface="Consolas" panose="020B0609020204030204" pitchFamily="49" charset="0"/>
                <a:cs typeface="Consolas" panose="020B0609020204030204" pitchFamily="49" charset="0"/>
              </a:rPr>
              <a:t>/beta/$</a:t>
            </a:r>
            <a:r>
              <a:rPr lang="en-US" sz="1200" dirty="0" err="1">
                <a:solidFill>
                  <a:srgbClr val="014C89"/>
                </a:solidFill>
                <a:latin typeface="Consolas" panose="020B0609020204030204" pitchFamily="49" charset="0"/>
                <a:cs typeface="Consolas" panose="020B0609020204030204" pitchFamily="49" charset="0"/>
              </a:rPr>
              <a:t>metadata#admin</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configurationMonitors</a:t>
            </a:r>
            <a:r>
              <a:rPr lang="en-US" sz="1200" dirty="0">
                <a:solidFill>
                  <a:srgbClr val="014C89"/>
                </a:solidFill>
                <a:latin typeface="Consolas" panose="020B0609020204030204" pitchFamily="49" charset="0"/>
                <a:cs typeface="Consolas" panose="020B0609020204030204" pitchFamily="49" charset="0"/>
              </a:rPr>
              <a:t>('fb708914-be65-4fda-a01e-77c4b2b7c403')/baseline/$entity",</a:t>
            </a:r>
          </a:p>
          <a:p>
            <a:r>
              <a:rPr lang="en-US" sz="1200" dirty="0">
                <a:solidFill>
                  <a:srgbClr val="014C89"/>
                </a:solidFill>
                <a:latin typeface="Consolas" panose="020B0609020204030204" pitchFamily="49" charset="0"/>
                <a:cs typeface="Consolas" panose="020B0609020204030204" pitchFamily="49" charset="0"/>
              </a:rPr>
              <a:t>  "id": "5fccac97-3903-40ac-9293-dcc95912f7c1",</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displayName</a:t>
            </a:r>
            <a:r>
              <a:rPr lang="en-US" sz="1200" dirty="0">
                <a:solidFill>
                  <a:srgbClr val="014C89"/>
                </a:solidFill>
                <a:latin typeface="Consolas" panose="020B0609020204030204" pitchFamily="49" charset="0"/>
                <a:cs typeface="Consolas" panose="020B0609020204030204" pitchFamily="49" charset="0"/>
              </a:rPr>
              <a:t>": "Demo Baseline",</a:t>
            </a:r>
          </a:p>
          <a:p>
            <a:r>
              <a:rPr lang="en-US" sz="1200" dirty="0">
                <a:solidFill>
                  <a:srgbClr val="014C89"/>
                </a:solidFill>
                <a:latin typeface="Consolas" panose="020B0609020204030204" pitchFamily="49" charset="0"/>
                <a:cs typeface="Consolas" panose="020B0609020204030204" pitchFamily="49" charset="0"/>
              </a:rPr>
              <a:t>  "description": "This is a baseline with User resources",</a:t>
            </a:r>
          </a:p>
          <a:p>
            <a:r>
              <a:rPr lang="en-US" sz="1200" dirty="0">
                <a:solidFill>
                  <a:srgbClr val="014C89"/>
                </a:solidFill>
                <a:latin typeface="Consolas" panose="020B0609020204030204" pitchFamily="49" charset="0"/>
                <a:cs typeface="Consolas" panose="020B0609020204030204" pitchFamily="49" charset="0"/>
              </a:rPr>
              <a:t>  "parameters": [],</a:t>
            </a:r>
          </a:p>
          <a:p>
            <a:r>
              <a:rPr lang="en-US" sz="1200" dirty="0">
                <a:solidFill>
                  <a:srgbClr val="014C89"/>
                </a:solidFill>
                <a:latin typeface="Consolas" panose="020B0609020204030204" pitchFamily="49" charset="0"/>
                <a:cs typeface="Consolas" panose="020B0609020204030204" pitchFamily="49" charset="0"/>
              </a:rPr>
              <a:t>  "resources":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displayName</a:t>
            </a:r>
            <a:r>
              <a:rPr lang="en-US" sz="1200" dirty="0">
                <a:solidFill>
                  <a:srgbClr val="014C89"/>
                </a:solidFill>
                <a:latin typeface="Consolas" panose="020B0609020204030204" pitchFamily="49" charset="0"/>
                <a:cs typeface="Consolas" panose="020B0609020204030204" pitchFamily="49" charset="0"/>
              </a:rPr>
              <a:t>": "Config Drift Bradley Wyatt Entra User",</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resourceType</a:t>
            </a:r>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microsoft.entra.user</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"properties": {</a:t>
            </a:r>
          </a:p>
          <a:p>
            <a:r>
              <a:rPr lang="en-US" sz="1200" dirty="0">
                <a:solidFill>
                  <a:srgbClr val="014C89"/>
                </a:solidFill>
                <a:latin typeface="Consolas" panose="020B0609020204030204" pitchFamily="49" charset="0"/>
                <a:cs typeface="Consolas" panose="020B0609020204030204" pitchFamily="49" charset="0"/>
              </a:rPr>
              <a:t>        "DisplayName": "Bradley Wyatt",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UserPrincipalName</a:t>
            </a:r>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brad@thelazyadministrator.com</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"Ensure": "Present",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LicenseAssignment</a:t>
            </a:r>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"Microsoft_365_E5_(</a:t>
            </a:r>
            <a:r>
              <a:rPr lang="en-US" sz="1200" dirty="0" err="1">
                <a:solidFill>
                  <a:srgbClr val="014C89"/>
                </a:solidFill>
                <a:latin typeface="Consolas" panose="020B0609020204030204" pitchFamily="49" charset="0"/>
                <a:cs typeface="Consolas" panose="020B0609020204030204" pitchFamily="49" charset="0"/>
              </a:rPr>
              <a:t>no_Teams</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"Roles": [</a:t>
            </a:r>
          </a:p>
          <a:p>
            <a:r>
              <a:rPr lang="en-US" sz="1200" dirty="0">
                <a:solidFill>
                  <a:srgbClr val="014C89"/>
                </a:solidFill>
                <a:latin typeface="Consolas" panose="020B0609020204030204" pitchFamily="49" charset="0"/>
                <a:cs typeface="Consolas" panose="020B0609020204030204" pitchFamily="49" charset="0"/>
              </a:rPr>
              <a:t>          "Global Administrator"</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731500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15A72E6C-01E3-146A-175A-DC4923AE502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1454677-CFF6-6974-8E16-887CE4D4895E}"/>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Monitors</a:t>
            </a:r>
          </a:p>
        </p:txBody>
      </p:sp>
      <p:cxnSp>
        <p:nvCxnSpPr>
          <p:cNvPr id="5" name="Straight Connector 4">
            <a:extLst>
              <a:ext uri="{FF2B5EF4-FFF2-40B4-BE49-F238E27FC236}">
                <a16:creationId xmlns:a16="http://schemas.microsoft.com/office/drawing/2014/main" id="{7865F471-64AD-4771-7CF0-714945725643}"/>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04DD4C6-2F5C-3328-D4F4-F95E74C6A92F}"/>
              </a:ext>
            </a:extLst>
          </p:cNvPr>
          <p:cNvSpPr txBox="1"/>
          <p:nvPr/>
        </p:nvSpPr>
        <p:spPr>
          <a:xfrm>
            <a:off x="614445" y="1524000"/>
            <a:ext cx="11344473" cy="1818255"/>
          </a:xfrm>
          <a:prstGeom prst="rect">
            <a:avLst/>
          </a:prstGeom>
          <a:noFill/>
        </p:spPr>
        <p:txBody>
          <a:bodyPr wrap="square" rtlCol="0">
            <a:spAutoFit/>
          </a:bodyPr>
          <a:lstStyle/>
          <a:p>
            <a:pPr>
              <a:lnSpc>
                <a:spcPct val="150000"/>
              </a:lnSpc>
            </a:pPr>
            <a:r>
              <a:rPr lang="en-US" dirty="0">
                <a:solidFill>
                  <a:srgbClr val="014C89"/>
                </a:solidFill>
              </a:rPr>
              <a:t>Monitors the resources current configuration and compares it to the desired (from the baseline) configuration. </a:t>
            </a:r>
          </a:p>
          <a:p>
            <a:pPr marL="285750" indent="-285750">
              <a:lnSpc>
                <a:spcPct val="150000"/>
              </a:lnSpc>
              <a:buFont typeface="Arial" panose="020B0604020202020204" pitchFamily="34" charset="0"/>
              <a:buChar char="•"/>
            </a:pPr>
            <a:r>
              <a:rPr lang="en-US" dirty="0">
                <a:solidFill>
                  <a:srgbClr val="014C89"/>
                </a:solidFill>
              </a:rPr>
              <a:t>Runs every 6 hours </a:t>
            </a:r>
          </a:p>
          <a:p>
            <a:pPr marL="285750" indent="-285750">
              <a:lnSpc>
                <a:spcPct val="150000"/>
              </a:lnSpc>
              <a:buFont typeface="Arial" panose="020B0604020202020204" pitchFamily="34" charset="0"/>
              <a:buChar char="•"/>
            </a:pPr>
            <a:r>
              <a:rPr lang="en-US" dirty="0">
                <a:solidFill>
                  <a:srgbClr val="014C89"/>
                </a:solidFill>
              </a:rPr>
              <a:t>Compares current state to baseline </a:t>
            </a:r>
          </a:p>
          <a:p>
            <a:pPr>
              <a:lnSpc>
                <a:spcPct val="200000"/>
              </a:lnSpc>
            </a:pPr>
            <a:endParaRPr lang="en-US" dirty="0">
              <a:solidFill>
                <a:srgbClr val="014C89"/>
              </a:solidFill>
            </a:endParaRPr>
          </a:p>
        </p:txBody>
      </p:sp>
      <p:sp>
        <p:nvSpPr>
          <p:cNvPr id="4" name="TextBox 3">
            <a:extLst>
              <a:ext uri="{FF2B5EF4-FFF2-40B4-BE49-F238E27FC236}">
                <a16:creationId xmlns:a16="http://schemas.microsoft.com/office/drawing/2014/main" id="{A86CB9E8-C582-A1CE-D409-C224A9686566}"/>
              </a:ext>
            </a:extLst>
          </p:cNvPr>
          <p:cNvSpPr txBox="1"/>
          <p:nvPr/>
        </p:nvSpPr>
        <p:spPr>
          <a:xfrm>
            <a:off x="614443" y="3429000"/>
            <a:ext cx="8511628" cy="2923877"/>
          </a:xfrm>
          <a:prstGeom prst="rect">
            <a:avLst/>
          </a:prstGeom>
          <a:noFill/>
        </p:spPr>
        <p:txBody>
          <a:bodyPr wrap="square" rtlCol="0">
            <a:spAutoFit/>
          </a:bodyPr>
          <a:lstStyle/>
          <a:p>
            <a:pPr>
              <a:lnSpc>
                <a:spcPct val="150000"/>
              </a:lnSpc>
            </a:pPr>
            <a:r>
              <a:rPr lang="en-US" sz="1600" b="1" dirty="0">
                <a:solidFill>
                  <a:srgbClr val="014C89"/>
                </a:solidFill>
              </a:rPr>
              <a:t>Resource: </a:t>
            </a:r>
            <a:r>
              <a:rPr lang="en-US" sz="1600" dirty="0" err="1">
                <a:solidFill>
                  <a:srgbClr val="014C89"/>
                </a:solidFill>
                <a:latin typeface="Consolas" panose="020B0609020204030204" pitchFamily="49" charset="0"/>
                <a:cs typeface="Consolas" panose="020B0609020204030204" pitchFamily="49" charset="0"/>
              </a:rPr>
              <a:t>configurationMonitors</a:t>
            </a:r>
            <a:endParaRPr lang="en-US" sz="1600" dirty="0">
              <a:solidFill>
                <a:srgbClr val="014C89"/>
              </a:solidFill>
              <a:latin typeface="Consolas" panose="020B0609020204030204" pitchFamily="49" charset="0"/>
              <a:cs typeface="Consolas" panose="020B0609020204030204" pitchFamily="49" charset="0"/>
            </a:endParaRPr>
          </a:p>
          <a:p>
            <a:pPr>
              <a:lnSpc>
                <a:spcPct val="150000"/>
              </a:lnSpc>
            </a:pPr>
            <a:r>
              <a:rPr lang="en-US" sz="1600" b="1" dirty="0">
                <a:solidFill>
                  <a:srgbClr val="014C89"/>
                </a:solidFill>
              </a:rPr>
              <a:t>What it does</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Runs recurring checks (every 6 hours) comparing:</a:t>
            </a:r>
          </a:p>
          <a:p>
            <a:pPr marL="742950" lvl="1" indent="-285750">
              <a:lnSpc>
                <a:spcPct val="150000"/>
              </a:lnSpc>
              <a:buFont typeface="Arial" panose="020B0604020202020204" pitchFamily="34" charset="0"/>
              <a:buChar char="•"/>
            </a:pPr>
            <a:r>
              <a:rPr lang="en-US" sz="1600" dirty="0">
                <a:solidFill>
                  <a:srgbClr val="014C89"/>
                </a:solidFill>
              </a:rPr>
              <a:t>Baseline vs Current config</a:t>
            </a:r>
          </a:p>
          <a:p>
            <a:pPr>
              <a:lnSpc>
                <a:spcPct val="150000"/>
              </a:lnSpc>
            </a:pPr>
            <a:r>
              <a:rPr lang="en-US" sz="1600" b="1" dirty="0">
                <a:solidFill>
                  <a:srgbClr val="014C89"/>
                </a:solidFill>
              </a:rPr>
              <a:t>Used to</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Monitor resource configurations</a:t>
            </a:r>
          </a:p>
          <a:p>
            <a:pPr>
              <a:lnSpc>
                <a:spcPct val="150000"/>
              </a:lnSpc>
            </a:pPr>
            <a:r>
              <a:rPr lang="en-US" sz="1600" b="1" dirty="0">
                <a:solidFill>
                  <a:srgbClr val="014C89"/>
                </a:solidFill>
              </a:rPr>
              <a:t>Think</a:t>
            </a:r>
            <a:r>
              <a:rPr lang="en-US" sz="1600" dirty="0">
                <a:solidFill>
                  <a:srgbClr val="014C89"/>
                </a:solidFill>
              </a:rPr>
              <a:t>: “</a:t>
            </a:r>
            <a:r>
              <a:rPr lang="en-US" sz="1600" i="1" dirty="0">
                <a:solidFill>
                  <a:srgbClr val="014C89"/>
                </a:solidFill>
              </a:rPr>
              <a:t>Does the current resource configuration match the desired configuration”</a:t>
            </a:r>
          </a:p>
          <a:p>
            <a:endParaRPr lang="en-US" sz="1600" dirty="0"/>
          </a:p>
        </p:txBody>
      </p:sp>
    </p:spTree>
    <p:extLst>
      <p:ext uri="{BB962C8B-B14F-4D97-AF65-F5344CB8AC3E}">
        <p14:creationId xmlns:p14="http://schemas.microsoft.com/office/powerpoint/2010/main" val="1463318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8A63B868-88D7-3CEB-2C8E-5D6750B44E4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C538693-E27C-236C-2E8B-78E8AADE7053}"/>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Monitors</a:t>
            </a:r>
          </a:p>
        </p:txBody>
      </p:sp>
      <p:cxnSp>
        <p:nvCxnSpPr>
          <p:cNvPr id="5" name="Straight Connector 4">
            <a:extLst>
              <a:ext uri="{FF2B5EF4-FFF2-40B4-BE49-F238E27FC236}">
                <a16:creationId xmlns:a16="http://schemas.microsoft.com/office/drawing/2014/main" id="{A037E30E-952B-3E12-41F2-1C1195864907}"/>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B276DB4-4758-0DC9-594F-80FC708722F8}"/>
              </a:ext>
            </a:extLst>
          </p:cNvPr>
          <p:cNvSpPr txBox="1"/>
          <p:nvPr/>
        </p:nvSpPr>
        <p:spPr>
          <a:xfrm>
            <a:off x="533759" y="1394852"/>
            <a:ext cx="11595487" cy="1384995"/>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 = https://</a:t>
            </a:r>
            <a:r>
              <a:rPr lang="en-US" sz="1200" dirty="0" err="1">
                <a:solidFill>
                  <a:srgbClr val="014C89"/>
                </a:solidFill>
                <a:latin typeface="Consolas" panose="020B0609020204030204" pitchFamily="49" charset="0"/>
                <a:cs typeface="Consolas" panose="020B0609020204030204" pitchFamily="49" charset="0"/>
              </a:rPr>
              <a:t>graph.microsoft.com</a:t>
            </a:r>
            <a:r>
              <a:rPr lang="en-US" sz="1200" dirty="0">
                <a:solidFill>
                  <a:srgbClr val="014C89"/>
                </a:solidFill>
                <a:latin typeface="Consolas" panose="020B0609020204030204" pitchFamily="49" charset="0"/>
                <a:cs typeface="Consolas" panose="020B0609020204030204" pitchFamily="49" charset="0"/>
              </a:rPr>
              <a:t>/beta</a:t>
            </a: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configurationMonitor_id</a:t>
            </a:r>
            <a:r>
              <a:rPr lang="en-US" sz="1200" dirty="0">
                <a:solidFill>
                  <a:srgbClr val="014C89"/>
                </a:solidFill>
                <a:latin typeface="Consolas" panose="020B0609020204030204" pitchFamily="49" charset="0"/>
                <a:cs typeface="Consolas" panose="020B0609020204030204" pitchFamily="49" charset="0"/>
              </a:rPr>
              <a:t> = fb708914-be65-4fda-a01e-77c4b2b7c403</a:t>
            </a: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 = {{</a:t>
            </a:r>
            <a:r>
              <a:rPr lang="en-US" sz="1200" dirty="0" err="1">
                <a:solidFill>
                  <a:srgbClr val="014C89"/>
                </a:solidFill>
                <a:latin typeface="Consolas" panose="020B0609020204030204" pitchFamily="49" charset="0"/>
                <a:cs typeface="Consolas" panose="020B0609020204030204" pitchFamily="49" charset="0"/>
              </a:rPr>
              <a:t>accessToken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a:p>
            <a:r>
              <a:rPr lang="en-US" sz="1200" dirty="0">
                <a:solidFill>
                  <a:srgbClr val="014C89"/>
                </a:solidFill>
                <a:latin typeface="Consolas" panose="020B0609020204030204" pitchFamily="49" charset="0"/>
                <a:cs typeface="Consolas" panose="020B0609020204030204" pitchFamily="49" charset="0"/>
              </a:rPr>
              <a:t>GET {{</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}}/admin/</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configurationMonitors</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configurationMonitor_id</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Authorization: Bearer {{</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16792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BF59E6A0-B185-148F-9AE9-7D98C2A443B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EA39A06-1007-D40F-16F2-80C8D4AE4106}"/>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Monitors</a:t>
            </a:r>
          </a:p>
        </p:txBody>
      </p:sp>
      <p:cxnSp>
        <p:nvCxnSpPr>
          <p:cNvPr id="5" name="Straight Connector 4">
            <a:extLst>
              <a:ext uri="{FF2B5EF4-FFF2-40B4-BE49-F238E27FC236}">
                <a16:creationId xmlns:a16="http://schemas.microsoft.com/office/drawing/2014/main" id="{26DF54A1-9B62-9D70-C5A1-EC3D4EEEA1BB}"/>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38A74A83-8E91-B623-15E6-63EB4C1D99AD}"/>
              </a:ext>
            </a:extLst>
          </p:cNvPr>
          <p:cNvSpPr txBox="1"/>
          <p:nvPr/>
        </p:nvSpPr>
        <p:spPr>
          <a:xfrm>
            <a:off x="533759" y="1394852"/>
            <a:ext cx="11595487" cy="5455340"/>
          </a:xfrm>
          <a:prstGeom prst="rect">
            <a:avLst/>
          </a:prstGeom>
          <a:noFill/>
        </p:spPr>
        <p:txBody>
          <a:bodyPr wrap="square" rtlCol="0">
            <a:spAutoFit/>
          </a:bodyPr>
          <a:lstStyle/>
          <a:p>
            <a:r>
              <a:rPr lang="en-US" sz="850" dirty="0">
                <a:solidFill>
                  <a:srgbClr val="014C89"/>
                </a:solidFill>
                <a:latin typeface="Consolas" panose="020B0609020204030204" pitchFamily="49" charset="0"/>
                <a:cs typeface="Consolas" panose="020B0609020204030204" pitchFamily="49" charset="0"/>
              </a:rPr>
              <a:t>{</a:t>
            </a:r>
          </a:p>
          <a:p>
            <a:r>
              <a:rPr lang="en-US" sz="850" dirty="0">
                <a:solidFill>
                  <a:srgbClr val="014C89"/>
                </a:solidFill>
                <a:latin typeface="Consolas" panose="020B0609020204030204" pitchFamily="49" charset="0"/>
                <a:cs typeface="Consolas" panose="020B0609020204030204" pitchFamily="49" charset="0"/>
              </a:rPr>
              <a:t>  "id": "fb708914-be65-4fda-a01e-77c4b2b7c403",</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"Demo Monitor",</a:t>
            </a:r>
          </a:p>
          <a:p>
            <a:r>
              <a:rPr lang="en-US" sz="850" dirty="0">
                <a:solidFill>
                  <a:srgbClr val="014C89"/>
                </a:solidFill>
                <a:latin typeface="Consolas" panose="020B0609020204030204" pitchFamily="49" charset="0"/>
                <a:cs typeface="Consolas" panose="020B0609020204030204" pitchFamily="49" charset="0"/>
              </a:rPr>
              <a:t>  "description": "This is a Demo Monitor for Entra Users",</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tenantId</a:t>
            </a:r>
            <a:r>
              <a:rPr lang="en-US" sz="850" dirty="0">
                <a:solidFill>
                  <a:srgbClr val="014C89"/>
                </a:solidFill>
                <a:latin typeface="Consolas" panose="020B0609020204030204" pitchFamily="49" charset="0"/>
                <a:cs typeface="Consolas" panose="020B0609020204030204" pitchFamily="49" charset="0"/>
              </a:rPr>
              <a:t>": "6438b2c9-54e9-4fce-9851-f00c24b5dc1f",</a:t>
            </a:r>
          </a:p>
          <a:p>
            <a:r>
              <a:rPr lang="en-US" sz="850" dirty="0">
                <a:solidFill>
                  <a:srgbClr val="014C89"/>
                </a:solidFill>
                <a:latin typeface="Consolas" panose="020B0609020204030204" pitchFamily="49" charset="0"/>
                <a:cs typeface="Consolas" panose="020B0609020204030204" pitchFamily="49" charset="0"/>
              </a:rPr>
              <a:t>  "status": "active",</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monitorRunFrequencyInHours</a:t>
            </a:r>
            <a:r>
              <a:rPr lang="en-US" sz="850" dirty="0">
                <a:solidFill>
                  <a:srgbClr val="014C89"/>
                </a:solidFill>
                <a:latin typeface="Consolas" panose="020B0609020204030204" pitchFamily="49" charset="0"/>
                <a:cs typeface="Consolas" panose="020B0609020204030204" pitchFamily="49" charset="0"/>
              </a:rPr>
              <a:t>": 6,</a:t>
            </a:r>
          </a:p>
          <a:p>
            <a:r>
              <a:rPr lang="en-US" sz="850" dirty="0">
                <a:solidFill>
                  <a:srgbClr val="014C89"/>
                </a:solidFill>
                <a:latin typeface="Consolas" panose="020B0609020204030204" pitchFamily="49" charset="0"/>
                <a:cs typeface="Consolas" panose="020B0609020204030204" pitchFamily="49" charset="0"/>
              </a:rPr>
              <a:t>  "mode": "</a:t>
            </a:r>
            <a:r>
              <a:rPr lang="en-US" sz="850" dirty="0" err="1">
                <a:solidFill>
                  <a:srgbClr val="014C89"/>
                </a:solidFill>
                <a:latin typeface="Consolas" panose="020B0609020204030204" pitchFamily="49" charset="0"/>
                <a:cs typeface="Consolas" panose="020B0609020204030204" pitchFamily="49" charset="0"/>
              </a:rPr>
              <a:t>monitorOnly</a:t>
            </a:r>
            <a:r>
              <a:rPr lang="en-US" sz="850" dirty="0">
                <a:solidFill>
                  <a:srgbClr val="014C89"/>
                </a:solidFill>
                <a:latin typeface="Consolas" panose="020B0609020204030204" pitchFamily="49" charset="0"/>
                <a:cs typeface="Consolas" panose="020B0609020204030204" pitchFamily="49" charset="0"/>
              </a:rPr>
              <a:t>",</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createdDateTime</a:t>
            </a:r>
            <a:r>
              <a:rPr lang="en-US" sz="850" dirty="0">
                <a:solidFill>
                  <a:srgbClr val="014C89"/>
                </a:solidFill>
                <a:latin typeface="Consolas" panose="020B0609020204030204" pitchFamily="49" charset="0"/>
                <a:cs typeface="Consolas" panose="020B0609020204030204" pitchFamily="49" charset="0"/>
              </a:rPr>
              <a:t>": "2026-01-27T20:18:25.8899114Z",</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lastModifiedDateTime</a:t>
            </a:r>
            <a:r>
              <a:rPr lang="en-US" sz="850" dirty="0">
                <a:solidFill>
                  <a:srgbClr val="014C89"/>
                </a:solidFill>
                <a:latin typeface="Consolas" panose="020B0609020204030204" pitchFamily="49" charset="0"/>
                <a:cs typeface="Consolas" panose="020B0609020204030204" pitchFamily="49" charset="0"/>
              </a:rPr>
              <a:t>": "2026-01-28T02:30:42.1846562Z",</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runAsUTCMServicePrincipal</a:t>
            </a:r>
            <a:r>
              <a:rPr lang="en-US" sz="850" dirty="0">
                <a:solidFill>
                  <a:srgbClr val="014C89"/>
                </a:solidFill>
                <a:latin typeface="Consolas" panose="020B0609020204030204" pitchFamily="49" charset="0"/>
                <a:cs typeface="Consolas" panose="020B0609020204030204" pitchFamily="49" charset="0"/>
              </a:rPr>
              <a:t>": true,</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inactivationReason</a:t>
            </a:r>
            <a:r>
              <a:rPr lang="en-US" sz="850" dirty="0">
                <a:solidFill>
                  <a:srgbClr val="014C89"/>
                </a:solidFill>
                <a:latin typeface="Consolas" panose="020B0609020204030204" pitchFamily="49" charset="0"/>
                <a:cs typeface="Consolas" panose="020B0609020204030204" pitchFamily="49" charset="0"/>
              </a:rPr>
              <a:t>": null,</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createdBy</a:t>
            </a:r>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"user": {</a:t>
            </a:r>
          </a:p>
          <a:p>
            <a:r>
              <a:rPr lang="en-US" sz="850" dirty="0">
                <a:solidFill>
                  <a:srgbClr val="014C89"/>
                </a:solidFill>
                <a:latin typeface="Consolas" panose="020B0609020204030204" pitchFamily="49" charset="0"/>
                <a:cs typeface="Consolas" panose="020B0609020204030204" pitchFamily="49" charset="0"/>
              </a:rPr>
              <a:t>      "id": null,</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null</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"application": {</a:t>
            </a:r>
          </a:p>
          <a:p>
            <a:r>
              <a:rPr lang="en-US" sz="850" dirty="0">
                <a:solidFill>
                  <a:srgbClr val="014C89"/>
                </a:solidFill>
                <a:latin typeface="Consolas" panose="020B0609020204030204" pitchFamily="49" charset="0"/>
                <a:cs typeface="Consolas" panose="020B0609020204030204" pitchFamily="49" charset="0"/>
              </a:rPr>
              <a:t>      "id": "584fce90-fe3e-4795-8d3e-2c8c1487ac2c",</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"584fce90-fe3e-4795-8d3e-2c8c1487ac2c"</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runningOnBehalfOf</a:t>
            </a:r>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"user": null,</a:t>
            </a:r>
          </a:p>
          <a:p>
            <a:r>
              <a:rPr lang="en-US" sz="850" dirty="0">
                <a:solidFill>
                  <a:srgbClr val="014C89"/>
                </a:solidFill>
                <a:latin typeface="Consolas" panose="020B0609020204030204" pitchFamily="49" charset="0"/>
                <a:cs typeface="Consolas" panose="020B0609020204030204" pitchFamily="49" charset="0"/>
              </a:rPr>
              <a:t>    "application": {</a:t>
            </a:r>
          </a:p>
          <a:p>
            <a:r>
              <a:rPr lang="en-US" sz="850" dirty="0">
                <a:solidFill>
                  <a:srgbClr val="014C89"/>
                </a:solidFill>
                <a:latin typeface="Consolas" panose="020B0609020204030204" pitchFamily="49" charset="0"/>
                <a:cs typeface="Consolas" panose="020B0609020204030204" pitchFamily="49" charset="0"/>
              </a:rPr>
              <a:t>      "id": "03b07b79-c5bc-4b5e-9bfa-13acf4a99998",</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"Unified Tenant Configuration Management"</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lastModifiedBy</a:t>
            </a:r>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"user": {</a:t>
            </a:r>
          </a:p>
          <a:p>
            <a:r>
              <a:rPr lang="en-US" sz="850" dirty="0">
                <a:solidFill>
                  <a:srgbClr val="014C89"/>
                </a:solidFill>
                <a:latin typeface="Consolas" panose="020B0609020204030204" pitchFamily="49" charset="0"/>
                <a:cs typeface="Consolas" panose="020B0609020204030204" pitchFamily="49" charset="0"/>
              </a:rPr>
              <a:t>      "id": null,</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null</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"application": {</a:t>
            </a:r>
          </a:p>
          <a:p>
            <a:r>
              <a:rPr lang="en-US" sz="850" dirty="0">
                <a:solidFill>
                  <a:srgbClr val="014C89"/>
                </a:solidFill>
                <a:latin typeface="Consolas" panose="020B0609020204030204" pitchFamily="49" charset="0"/>
                <a:cs typeface="Consolas" panose="020B0609020204030204" pitchFamily="49" charset="0"/>
              </a:rPr>
              <a:t>      "id": "584fce90-fe3e-4795-8d3e-2c8c1487ac2c",</a:t>
            </a:r>
          </a:p>
          <a:p>
            <a:r>
              <a:rPr lang="en-US" sz="850" dirty="0">
                <a:solidFill>
                  <a:srgbClr val="014C89"/>
                </a:solidFill>
                <a:latin typeface="Consolas" panose="020B0609020204030204" pitchFamily="49" charset="0"/>
                <a:cs typeface="Consolas" panose="020B0609020204030204" pitchFamily="49" charset="0"/>
              </a:rPr>
              <a:t>      "</a:t>
            </a:r>
            <a:r>
              <a:rPr lang="en-US" sz="850" dirty="0" err="1">
                <a:solidFill>
                  <a:srgbClr val="014C89"/>
                </a:solidFill>
                <a:latin typeface="Consolas" panose="020B0609020204030204" pitchFamily="49" charset="0"/>
                <a:cs typeface="Consolas" panose="020B0609020204030204" pitchFamily="49" charset="0"/>
              </a:rPr>
              <a:t>displayName</a:t>
            </a:r>
            <a:r>
              <a:rPr lang="en-US" sz="850" dirty="0">
                <a:solidFill>
                  <a:srgbClr val="014C89"/>
                </a:solidFill>
                <a:latin typeface="Consolas" panose="020B0609020204030204" pitchFamily="49" charset="0"/>
                <a:cs typeface="Consolas" panose="020B0609020204030204" pitchFamily="49" charset="0"/>
              </a:rPr>
              <a:t>": "584fce90-fe3e-4795-8d3e-2c8c1487ac2c"</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a:t>
            </a:r>
          </a:p>
          <a:p>
            <a:r>
              <a:rPr lang="en-US" sz="850" dirty="0">
                <a:solidFill>
                  <a:srgbClr val="014C89"/>
                </a:solidFill>
                <a:latin typeface="Consolas" panose="020B0609020204030204" pitchFamily="49" charset="0"/>
                <a:cs typeface="Consolas" panose="020B0609020204030204" pitchFamily="49" charset="0"/>
              </a:rPr>
              <a:t>  "parameters": {}</a:t>
            </a:r>
          </a:p>
          <a:p>
            <a:r>
              <a:rPr lang="en-US" sz="850" dirty="0">
                <a:solidFill>
                  <a:srgbClr val="014C89"/>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146040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7B072028-4F0D-3060-492A-39B00A9CB81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0890DFC-C9CB-F8F8-1261-5A2FBE3436E4}"/>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dirty="0">
                <a:solidFill>
                  <a:srgbClr val="014C89"/>
                </a:solidFill>
              </a:rPr>
              <a:t>Monitoring Results</a:t>
            </a:r>
          </a:p>
        </p:txBody>
      </p:sp>
      <p:cxnSp>
        <p:nvCxnSpPr>
          <p:cNvPr id="5" name="Straight Connector 4">
            <a:extLst>
              <a:ext uri="{FF2B5EF4-FFF2-40B4-BE49-F238E27FC236}">
                <a16:creationId xmlns:a16="http://schemas.microsoft.com/office/drawing/2014/main" id="{69E0FE80-7DC2-9E83-8D17-33D6CE27C5EF}"/>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537F0B9-129F-7942-2A70-FE3137A06ED0}"/>
              </a:ext>
            </a:extLst>
          </p:cNvPr>
          <p:cNvSpPr txBox="1"/>
          <p:nvPr/>
        </p:nvSpPr>
        <p:spPr>
          <a:xfrm>
            <a:off x="614445" y="1524000"/>
            <a:ext cx="11344473" cy="1298882"/>
          </a:xfrm>
          <a:prstGeom prst="rect">
            <a:avLst/>
          </a:prstGeom>
          <a:noFill/>
        </p:spPr>
        <p:txBody>
          <a:bodyPr wrap="square" rtlCol="0">
            <a:spAutoFit/>
          </a:bodyPr>
          <a:lstStyle/>
          <a:p>
            <a:pPr>
              <a:lnSpc>
                <a:spcPct val="150000"/>
              </a:lnSpc>
            </a:pPr>
            <a:r>
              <a:rPr lang="en-US" dirty="0">
                <a:solidFill>
                  <a:srgbClr val="014C89"/>
                </a:solidFill>
              </a:rPr>
              <a:t>Allows administrators to view monitor run details. They can determine whether the monitor is running successfully. If it isn't, they can identify the reasons for the failure. The resource also reports the number of drifts found in each monitor run.</a:t>
            </a:r>
          </a:p>
        </p:txBody>
      </p:sp>
      <p:sp>
        <p:nvSpPr>
          <p:cNvPr id="4" name="TextBox 3">
            <a:extLst>
              <a:ext uri="{FF2B5EF4-FFF2-40B4-BE49-F238E27FC236}">
                <a16:creationId xmlns:a16="http://schemas.microsoft.com/office/drawing/2014/main" id="{2EE14EE0-099D-71FB-272F-A688836A6B28}"/>
              </a:ext>
            </a:extLst>
          </p:cNvPr>
          <p:cNvSpPr txBox="1"/>
          <p:nvPr/>
        </p:nvSpPr>
        <p:spPr>
          <a:xfrm>
            <a:off x="614443" y="3429000"/>
            <a:ext cx="8511628" cy="3293209"/>
          </a:xfrm>
          <a:prstGeom prst="rect">
            <a:avLst/>
          </a:prstGeom>
          <a:noFill/>
        </p:spPr>
        <p:txBody>
          <a:bodyPr wrap="square" rtlCol="0">
            <a:spAutoFit/>
          </a:bodyPr>
          <a:lstStyle/>
          <a:p>
            <a:pPr>
              <a:lnSpc>
                <a:spcPct val="150000"/>
              </a:lnSpc>
            </a:pPr>
            <a:r>
              <a:rPr lang="en-US" sz="1600" b="1" dirty="0">
                <a:solidFill>
                  <a:srgbClr val="014C89"/>
                </a:solidFill>
              </a:rPr>
              <a:t>Resource: </a:t>
            </a:r>
            <a:r>
              <a:rPr lang="en-US" sz="1600" dirty="0" err="1">
                <a:solidFill>
                  <a:srgbClr val="014C89"/>
                </a:solidFill>
                <a:latin typeface="Consolas" panose="020B0609020204030204" pitchFamily="49" charset="0"/>
                <a:cs typeface="Consolas" panose="020B0609020204030204" pitchFamily="49" charset="0"/>
              </a:rPr>
              <a:t>configurationMonitoringResults</a:t>
            </a:r>
            <a:endParaRPr lang="en-US" sz="1600" dirty="0">
              <a:solidFill>
                <a:srgbClr val="014C89"/>
              </a:solidFill>
              <a:latin typeface="Consolas" panose="020B0609020204030204" pitchFamily="49" charset="0"/>
              <a:cs typeface="Consolas" panose="020B0609020204030204" pitchFamily="49" charset="0"/>
            </a:endParaRPr>
          </a:p>
          <a:p>
            <a:pPr>
              <a:lnSpc>
                <a:spcPct val="150000"/>
              </a:lnSpc>
            </a:pPr>
            <a:r>
              <a:rPr lang="en-US" sz="1600" b="1" dirty="0">
                <a:solidFill>
                  <a:srgbClr val="014C89"/>
                </a:solidFill>
              </a:rPr>
              <a:t>What it does</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Stores results from monitor runs:</a:t>
            </a:r>
          </a:p>
          <a:p>
            <a:pPr marL="742950" lvl="1" indent="-285750">
              <a:lnSpc>
                <a:spcPct val="150000"/>
              </a:lnSpc>
              <a:buFont typeface="Arial" panose="020B0604020202020204" pitchFamily="34" charset="0"/>
              <a:buChar char="•"/>
            </a:pPr>
            <a:r>
              <a:rPr lang="en-US" sz="1600" dirty="0">
                <a:solidFill>
                  <a:srgbClr val="014C89"/>
                </a:solidFill>
              </a:rPr>
              <a:t>What was checked</a:t>
            </a:r>
          </a:p>
          <a:p>
            <a:pPr marL="742950" lvl="1" indent="-285750">
              <a:lnSpc>
                <a:spcPct val="150000"/>
              </a:lnSpc>
              <a:buFont typeface="Arial" panose="020B0604020202020204" pitchFamily="34" charset="0"/>
              <a:buChar char="•"/>
            </a:pPr>
            <a:r>
              <a:rPr lang="en-US" sz="1600" dirty="0">
                <a:solidFill>
                  <a:srgbClr val="014C89"/>
                </a:solidFill>
              </a:rPr>
              <a:t>What passed/failed</a:t>
            </a:r>
          </a:p>
          <a:p>
            <a:pPr>
              <a:lnSpc>
                <a:spcPct val="150000"/>
              </a:lnSpc>
            </a:pPr>
            <a:r>
              <a:rPr lang="en-US" sz="1600" b="1" dirty="0">
                <a:solidFill>
                  <a:srgbClr val="014C89"/>
                </a:solidFill>
              </a:rPr>
              <a:t>Used to</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Review a resources current and expected properties</a:t>
            </a:r>
          </a:p>
          <a:p>
            <a:pPr>
              <a:lnSpc>
                <a:spcPct val="150000"/>
              </a:lnSpc>
            </a:pPr>
            <a:r>
              <a:rPr lang="en-US" sz="1600" b="1" dirty="0">
                <a:solidFill>
                  <a:srgbClr val="014C89"/>
                </a:solidFill>
              </a:rPr>
              <a:t>Think</a:t>
            </a:r>
            <a:r>
              <a:rPr lang="en-US" sz="1600" dirty="0">
                <a:solidFill>
                  <a:srgbClr val="014C89"/>
                </a:solidFill>
              </a:rPr>
              <a:t>: “</a:t>
            </a:r>
            <a:r>
              <a:rPr lang="en-US" sz="1600" i="1" dirty="0">
                <a:solidFill>
                  <a:srgbClr val="014C89"/>
                </a:solidFill>
              </a:rPr>
              <a:t>What happened during each scan?”</a:t>
            </a:r>
          </a:p>
          <a:p>
            <a:endParaRPr lang="en-US" sz="1600" dirty="0"/>
          </a:p>
        </p:txBody>
      </p:sp>
    </p:spTree>
    <p:extLst>
      <p:ext uri="{BB962C8B-B14F-4D97-AF65-F5344CB8AC3E}">
        <p14:creationId xmlns:p14="http://schemas.microsoft.com/office/powerpoint/2010/main" val="1948745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60C3A0C3-EB0A-3EE6-CEEF-97C6B5796FF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7C8E15C-FBB4-AB6B-8FC6-4E103169B5A4}"/>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Monitoring Result</a:t>
            </a:r>
          </a:p>
        </p:txBody>
      </p:sp>
      <p:cxnSp>
        <p:nvCxnSpPr>
          <p:cNvPr id="5" name="Straight Connector 4">
            <a:extLst>
              <a:ext uri="{FF2B5EF4-FFF2-40B4-BE49-F238E27FC236}">
                <a16:creationId xmlns:a16="http://schemas.microsoft.com/office/drawing/2014/main" id="{48E25324-30C3-6480-C298-020D626DFB96}"/>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FF8C4B1-DD1C-3694-EDAA-B2C0C5517ED1}"/>
              </a:ext>
            </a:extLst>
          </p:cNvPr>
          <p:cNvSpPr txBox="1"/>
          <p:nvPr/>
        </p:nvSpPr>
        <p:spPr>
          <a:xfrm>
            <a:off x="533759" y="1394852"/>
            <a:ext cx="11595487" cy="1384995"/>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 = </a:t>
            </a:r>
            <a:r>
              <a:rPr lang="en-US" sz="1200" dirty="0">
                <a:solidFill>
                  <a:srgbClr val="014C89"/>
                </a:solidFill>
                <a:latin typeface="Consolas" panose="020B0609020204030204" pitchFamily="49" charset="0"/>
                <a:cs typeface="Consolas" panose="020B0609020204030204" pitchFamily="49" charset="0"/>
                <a:hlinkClick r:id="rId4"/>
              </a:rPr>
              <a:t>https://graph.microsoft.com/beta</a:t>
            </a:r>
            <a:endParaRPr lang="en-US" sz="1200" dirty="0">
              <a:solidFill>
                <a:srgbClr val="014C89"/>
              </a:solidFill>
              <a:latin typeface="Consolas" panose="020B0609020204030204" pitchFamily="49" charset="0"/>
              <a:cs typeface="Consolas" panose="020B0609020204030204" pitchFamily="49" charset="0"/>
            </a:endParaRP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configurationMonitoringResult_Id</a:t>
            </a:r>
            <a:r>
              <a:rPr lang="en-US" sz="1200" dirty="0">
                <a:solidFill>
                  <a:srgbClr val="014C89"/>
                </a:solidFill>
                <a:latin typeface="Consolas" panose="020B0609020204030204" pitchFamily="49" charset="0"/>
                <a:cs typeface="Consolas" panose="020B0609020204030204" pitchFamily="49" charset="0"/>
              </a:rPr>
              <a:t> = ae0dc157-6377-4be8-ba49-60ce49481c6d</a:t>
            </a: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 = {{</a:t>
            </a:r>
            <a:r>
              <a:rPr lang="en-US" sz="1200" dirty="0" err="1">
                <a:solidFill>
                  <a:srgbClr val="014C89"/>
                </a:solidFill>
                <a:latin typeface="Consolas" panose="020B0609020204030204" pitchFamily="49" charset="0"/>
                <a:cs typeface="Consolas" panose="020B0609020204030204" pitchFamily="49" charset="0"/>
              </a:rPr>
              <a:t>accessToken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a:p>
            <a:r>
              <a:rPr lang="en-US" sz="1200" dirty="0">
                <a:solidFill>
                  <a:srgbClr val="014C89"/>
                </a:solidFill>
                <a:latin typeface="Consolas" panose="020B0609020204030204" pitchFamily="49" charset="0"/>
                <a:cs typeface="Consolas" panose="020B0609020204030204" pitchFamily="49" charset="0"/>
              </a:rPr>
              <a:t>GET {{</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}}/admin/</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configurationMonitoringResults</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configurationMonitoringResult_Id</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Authorization: Bearer {{</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76197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BAD47B3A-6A3B-1E8E-CDAD-5F95A80F820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D0DEA11-41CC-B19B-5DBD-7C2ABE95398D}"/>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Monitoring Result</a:t>
            </a:r>
          </a:p>
        </p:txBody>
      </p:sp>
      <p:cxnSp>
        <p:nvCxnSpPr>
          <p:cNvPr id="5" name="Straight Connector 4">
            <a:extLst>
              <a:ext uri="{FF2B5EF4-FFF2-40B4-BE49-F238E27FC236}">
                <a16:creationId xmlns:a16="http://schemas.microsoft.com/office/drawing/2014/main" id="{7D47C7B9-E018-7168-1AE3-434DC0317B7D}"/>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5B2F351-DD88-814F-BD65-23DA6D392347}"/>
              </a:ext>
            </a:extLst>
          </p:cNvPr>
          <p:cNvSpPr txBox="1"/>
          <p:nvPr/>
        </p:nvSpPr>
        <p:spPr>
          <a:xfrm>
            <a:off x="533759" y="1394852"/>
            <a:ext cx="11595487" cy="2308324"/>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odata.context</a:t>
            </a:r>
            <a:r>
              <a:rPr lang="en-US" sz="1200" dirty="0">
                <a:solidFill>
                  <a:srgbClr val="014C89"/>
                </a:solidFill>
                <a:latin typeface="Consolas" panose="020B0609020204030204" pitchFamily="49" charset="0"/>
                <a:cs typeface="Consolas" panose="020B0609020204030204" pitchFamily="49" charset="0"/>
              </a:rPr>
              <a:t>": "https://</a:t>
            </a:r>
            <a:r>
              <a:rPr lang="en-US" sz="1200" dirty="0" err="1">
                <a:solidFill>
                  <a:srgbClr val="014C89"/>
                </a:solidFill>
                <a:latin typeface="Consolas" panose="020B0609020204030204" pitchFamily="49" charset="0"/>
                <a:cs typeface="Consolas" panose="020B0609020204030204" pitchFamily="49" charset="0"/>
              </a:rPr>
              <a:t>graph.microsoft.com</a:t>
            </a:r>
            <a:r>
              <a:rPr lang="en-US" sz="1200" dirty="0">
                <a:solidFill>
                  <a:srgbClr val="014C89"/>
                </a:solidFill>
                <a:latin typeface="Consolas" panose="020B0609020204030204" pitchFamily="49" charset="0"/>
                <a:cs typeface="Consolas" panose="020B0609020204030204" pitchFamily="49" charset="0"/>
              </a:rPr>
              <a:t>/beta/$</a:t>
            </a:r>
            <a:r>
              <a:rPr lang="en-US" sz="1200" dirty="0" err="1">
                <a:solidFill>
                  <a:srgbClr val="014C89"/>
                </a:solidFill>
                <a:latin typeface="Consolas" panose="020B0609020204030204" pitchFamily="49" charset="0"/>
                <a:cs typeface="Consolas" panose="020B0609020204030204" pitchFamily="49" charset="0"/>
              </a:rPr>
              <a:t>metadata#admin</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configurationMonitoringResults</a:t>
            </a:r>
            <a:r>
              <a:rPr lang="en-US" sz="1200" dirty="0">
                <a:solidFill>
                  <a:srgbClr val="014C89"/>
                </a:solidFill>
                <a:latin typeface="Consolas" panose="020B0609020204030204" pitchFamily="49" charset="0"/>
                <a:cs typeface="Consolas" panose="020B0609020204030204" pitchFamily="49" charset="0"/>
              </a:rPr>
              <a:t>/$entity",</a:t>
            </a:r>
          </a:p>
          <a:p>
            <a:r>
              <a:rPr lang="en-US" sz="1200" dirty="0">
                <a:solidFill>
                  <a:srgbClr val="014C89"/>
                </a:solidFill>
                <a:latin typeface="Consolas" panose="020B0609020204030204" pitchFamily="49" charset="0"/>
                <a:cs typeface="Consolas" panose="020B0609020204030204" pitchFamily="49" charset="0"/>
              </a:rPr>
              <a:t>  "id": "ae0dc157-6377-4be8-ba49-60ce49481c6d",</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monitorId</a:t>
            </a:r>
            <a:r>
              <a:rPr lang="en-US" sz="1200" dirty="0">
                <a:solidFill>
                  <a:srgbClr val="014C89"/>
                </a:solidFill>
                <a:latin typeface="Consolas" panose="020B0609020204030204" pitchFamily="49" charset="0"/>
                <a:cs typeface="Consolas" panose="020B0609020204030204" pitchFamily="49" charset="0"/>
              </a:rPr>
              <a:t>": "fb708914-be65-4fda-a01e-77c4b2b7c403",</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tenantId</a:t>
            </a:r>
            <a:r>
              <a:rPr lang="en-US" sz="1200" dirty="0">
                <a:solidFill>
                  <a:srgbClr val="014C89"/>
                </a:solidFill>
                <a:latin typeface="Consolas" panose="020B0609020204030204" pitchFamily="49" charset="0"/>
                <a:cs typeface="Consolas" panose="020B0609020204030204" pitchFamily="49" charset="0"/>
              </a:rPr>
              <a:t>": "6438b2c9-54e9-4fce-9851-f00c24b5dc1f",</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runInitiationDateTime</a:t>
            </a:r>
            <a:r>
              <a:rPr lang="en-US" sz="1200" dirty="0">
                <a:solidFill>
                  <a:srgbClr val="014C89"/>
                </a:solidFill>
                <a:latin typeface="Consolas" panose="020B0609020204030204" pitchFamily="49" charset="0"/>
                <a:cs typeface="Consolas" panose="020B0609020204030204" pitchFamily="49" charset="0"/>
              </a:rPr>
              <a:t>": "2026-03-19T12:01:28.3040728Z",</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runCompletionDateTime</a:t>
            </a:r>
            <a:r>
              <a:rPr lang="en-US" sz="1200" dirty="0">
                <a:solidFill>
                  <a:srgbClr val="014C89"/>
                </a:solidFill>
                <a:latin typeface="Consolas" panose="020B0609020204030204" pitchFamily="49" charset="0"/>
                <a:cs typeface="Consolas" panose="020B0609020204030204" pitchFamily="49" charset="0"/>
              </a:rPr>
              <a:t>": "2026-03-19T12:04:01.276011Z",</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runStatus</a:t>
            </a:r>
            <a:r>
              <a:rPr lang="en-US" sz="1200" dirty="0">
                <a:solidFill>
                  <a:srgbClr val="014C89"/>
                </a:solidFill>
                <a:latin typeface="Consolas" panose="020B0609020204030204" pitchFamily="49" charset="0"/>
                <a:cs typeface="Consolas" panose="020B0609020204030204" pitchFamily="49" charset="0"/>
              </a:rPr>
              <a:t>": "successful",</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driftsCount</a:t>
            </a:r>
            <a:r>
              <a:rPr lang="en-US" sz="1200" dirty="0">
                <a:solidFill>
                  <a:srgbClr val="014C89"/>
                </a:solidFill>
                <a:latin typeface="Consolas" panose="020B0609020204030204" pitchFamily="49" charset="0"/>
                <a:cs typeface="Consolas" panose="020B0609020204030204" pitchFamily="49" charset="0"/>
              </a:rPr>
              <a:t>": 1,</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driftsFixed</a:t>
            </a:r>
            <a:r>
              <a:rPr lang="en-US" sz="1200" dirty="0">
                <a:solidFill>
                  <a:srgbClr val="014C89"/>
                </a:solidFill>
                <a:latin typeface="Consolas" panose="020B0609020204030204" pitchFamily="49" charset="0"/>
                <a:cs typeface="Consolas" panose="020B0609020204030204" pitchFamily="49" charset="0"/>
              </a:rPr>
              <a:t>": 0,</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runType</a:t>
            </a:r>
            <a:r>
              <a:rPr lang="en-US" sz="1200" dirty="0">
                <a:solidFill>
                  <a:srgbClr val="014C89"/>
                </a:solidFill>
                <a:latin typeface="Consolas" panose="020B0609020204030204" pitchFamily="49" charset="0"/>
                <a:cs typeface="Consolas" panose="020B0609020204030204" pitchFamily="49" charset="0"/>
              </a:rPr>
              <a:t>": "monitor"</a:t>
            </a:r>
          </a:p>
          <a:p>
            <a:r>
              <a:rPr lang="en-US" sz="1200" dirty="0">
                <a:solidFill>
                  <a:srgbClr val="014C89"/>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026554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75AED5D-886E-4C4C-5E96-8A214C82B7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F6488F2-D232-67D7-8052-0FC1BBB7E2C9}"/>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Drifts</a:t>
            </a:r>
          </a:p>
        </p:txBody>
      </p:sp>
      <p:cxnSp>
        <p:nvCxnSpPr>
          <p:cNvPr id="5" name="Straight Connector 4">
            <a:extLst>
              <a:ext uri="{FF2B5EF4-FFF2-40B4-BE49-F238E27FC236}">
                <a16:creationId xmlns:a16="http://schemas.microsoft.com/office/drawing/2014/main" id="{479A460B-06E9-BFED-AB93-89C7787DB916}"/>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B5A6666-B279-FC7C-9285-82FC29BE8FD9}"/>
              </a:ext>
            </a:extLst>
          </p:cNvPr>
          <p:cNvSpPr txBox="1"/>
          <p:nvPr/>
        </p:nvSpPr>
        <p:spPr>
          <a:xfrm>
            <a:off x="614445" y="1524000"/>
            <a:ext cx="11344473" cy="467885"/>
          </a:xfrm>
          <a:prstGeom prst="rect">
            <a:avLst/>
          </a:prstGeom>
          <a:noFill/>
        </p:spPr>
        <p:txBody>
          <a:bodyPr wrap="square" rtlCol="0">
            <a:spAutoFit/>
          </a:bodyPr>
          <a:lstStyle/>
          <a:p>
            <a:pPr>
              <a:lnSpc>
                <a:spcPct val="150000"/>
              </a:lnSpc>
            </a:pPr>
            <a:r>
              <a:rPr lang="en-US" dirty="0">
                <a:solidFill>
                  <a:srgbClr val="014C89"/>
                </a:solidFill>
              </a:rPr>
              <a:t>Allows admins to get granular details about all active drifts across all existing monitors.</a:t>
            </a:r>
          </a:p>
        </p:txBody>
      </p:sp>
      <p:sp>
        <p:nvSpPr>
          <p:cNvPr id="4" name="TextBox 3">
            <a:extLst>
              <a:ext uri="{FF2B5EF4-FFF2-40B4-BE49-F238E27FC236}">
                <a16:creationId xmlns:a16="http://schemas.microsoft.com/office/drawing/2014/main" id="{54C551A7-E150-F933-CF63-ECB0968AFF16}"/>
              </a:ext>
            </a:extLst>
          </p:cNvPr>
          <p:cNvSpPr txBox="1"/>
          <p:nvPr/>
        </p:nvSpPr>
        <p:spPr>
          <a:xfrm>
            <a:off x="614443" y="3429000"/>
            <a:ext cx="8511628" cy="3293209"/>
          </a:xfrm>
          <a:prstGeom prst="rect">
            <a:avLst/>
          </a:prstGeom>
          <a:noFill/>
        </p:spPr>
        <p:txBody>
          <a:bodyPr wrap="square" rtlCol="0">
            <a:spAutoFit/>
          </a:bodyPr>
          <a:lstStyle/>
          <a:p>
            <a:pPr>
              <a:lnSpc>
                <a:spcPct val="150000"/>
              </a:lnSpc>
            </a:pPr>
            <a:r>
              <a:rPr lang="en-US" sz="1600" b="1" dirty="0">
                <a:solidFill>
                  <a:srgbClr val="014C89"/>
                </a:solidFill>
              </a:rPr>
              <a:t>Resource: </a:t>
            </a:r>
            <a:r>
              <a:rPr lang="en-US" sz="1600" dirty="0" err="1">
                <a:solidFill>
                  <a:srgbClr val="014C89"/>
                </a:solidFill>
                <a:latin typeface="Consolas" panose="020B0609020204030204" pitchFamily="49" charset="0"/>
                <a:cs typeface="Consolas" panose="020B0609020204030204" pitchFamily="49" charset="0"/>
              </a:rPr>
              <a:t>configurationDrifts</a:t>
            </a:r>
            <a:endParaRPr lang="en-US" sz="1600" dirty="0">
              <a:solidFill>
                <a:srgbClr val="014C89"/>
              </a:solidFill>
              <a:latin typeface="Consolas" panose="020B0609020204030204" pitchFamily="49" charset="0"/>
              <a:cs typeface="Consolas" panose="020B0609020204030204" pitchFamily="49" charset="0"/>
            </a:endParaRPr>
          </a:p>
          <a:p>
            <a:pPr>
              <a:lnSpc>
                <a:spcPct val="150000"/>
              </a:lnSpc>
            </a:pPr>
            <a:r>
              <a:rPr lang="en-US" sz="1600" b="1" dirty="0">
                <a:solidFill>
                  <a:srgbClr val="014C89"/>
                </a:solidFill>
              </a:rPr>
              <a:t>What it does</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Extracted from monitoring results</a:t>
            </a:r>
          </a:p>
          <a:p>
            <a:pPr marL="285750" indent="-285750">
              <a:lnSpc>
                <a:spcPct val="150000"/>
              </a:lnSpc>
              <a:buFont typeface="Arial" panose="020B0604020202020204" pitchFamily="34" charset="0"/>
              <a:buChar char="•"/>
            </a:pPr>
            <a:r>
              <a:rPr lang="en-US" sz="1600" dirty="0">
                <a:solidFill>
                  <a:srgbClr val="014C89"/>
                </a:solidFill>
              </a:rPr>
              <a:t>Only Includes:</a:t>
            </a:r>
          </a:p>
          <a:p>
            <a:pPr marL="742950" lvl="1" indent="-285750">
              <a:lnSpc>
                <a:spcPct val="150000"/>
              </a:lnSpc>
              <a:buFont typeface="Arial" panose="020B0604020202020204" pitchFamily="34" charset="0"/>
              <a:buChar char="•"/>
            </a:pPr>
            <a:r>
              <a:rPr lang="en-US" sz="1600" dirty="0">
                <a:solidFill>
                  <a:srgbClr val="014C89"/>
                </a:solidFill>
              </a:rPr>
              <a:t>Failures / deviations</a:t>
            </a:r>
          </a:p>
          <a:p>
            <a:pPr>
              <a:lnSpc>
                <a:spcPct val="150000"/>
              </a:lnSpc>
            </a:pPr>
            <a:r>
              <a:rPr lang="en-US" sz="1600" b="1" dirty="0">
                <a:solidFill>
                  <a:srgbClr val="014C89"/>
                </a:solidFill>
              </a:rPr>
              <a:t>Used to</a:t>
            </a:r>
            <a:r>
              <a:rPr lang="en-US" sz="1600" dirty="0">
                <a:solidFill>
                  <a:srgbClr val="014C89"/>
                </a:solidFill>
              </a:rPr>
              <a:t>:</a:t>
            </a:r>
          </a:p>
          <a:p>
            <a:pPr marL="285750" indent="-285750">
              <a:lnSpc>
                <a:spcPct val="150000"/>
              </a:lnSpc>
              <a:buFont typeface="Arial" panose="020B0604020202020204" pitchFamily="34" charset="0"/>
              <a:buChar char="•"/>
            </a:pPr>
            <a:r>
              <a:rPr lang="en-US" sz="1600" dirty="0">
                <a:solidFill>
                  <a:srgbClr val="014C89"/>
                </a:solidFill>
              </a:rPr>
              <a:t>Show you properties that do not match our desired value</a:t>
            </a:r>
          </a:p>
          <a:p>
            <a:pPr>
              <a:lnSpc>
                <a:spcPct val="150000"/>
              </a:lnSpc>
            </a:pPr>
            <a:r>
              <a:rPr lang="en-US" sz="1600" b="1" dirty="0">
                <a:solidFill>
                  <a:srgbClr val="014C89"/>
                </a:solidFill>
              </a:rPr>
              <a:t>Think</a:t>
            </a:r>
            <a:r>
              <a:rPr lang="en-US" sz="1600" dirty="0">
                <a:solidFill>
                  <a:srgbClr val="014C89"/>
                </a:solidFill>
              </a:rPr>
              <a:t>: “</a:t>
            </a:r>
            <a:r>
              <a:rPr lang="en-US" sz="1600" i="1" dirty="0">
                <a:solidFill>
                  <a:srgbClr val="014C89"/>
                </a:solidFill>
              </a:rPr>
              <a:t>What’s wrong right now”</a:t>
            </a:r>
          </a:p>
          <a:p>
            <a:endParaRPr lang="en-US" sz="1600" dirty="0"/>
          </a:p>
        </p:txBody>
      </p:sp>
    </p:spTree>
    <p:extLst>
      <p:ext uri="{BB962C8B-B14F-4D97-AF65-F5344CB8AC3E}">
        <p14:creationId xmlns:p14="http://schemas.microsoft.com/office/powerpoint/2010/main" val="4157317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CDB05A59-9DE0-3A1D-FB09-159C56CC10E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DBA8818-570A-1E19-AFC1-F332FA5F6C0B}"/>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Drifts</a:t>
            </a:r>
          </a:p>
        </p:txBody>
      </p:sp>
      <p:cxnSp>
        <p:nvCxnSpPr>
          <p:cNvPr id="5" name="Straight Connector 4">
            <a:extLst>
              <a:ext uri="{FF2B5EF4-FFF2-40B4-BE49-F238E27FC236}">
                <a16:creationId xmlns:a16="http://schemas.microsoft.com/office/drawing/2014/main" id="{B0174B46-6313-1497-36E6-5D5477E67084}"/>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868F224-0965-041E-452B-332CD98EA891}"/>
              </a:ext>
            </a:extLst>
          </p:cNvPr>
          <p:cNvSpPr txBox="1"/>
          <p:nvPr/>
        </p:nvSpPr>
        <p:spPr>
          <a:xfrm>
            <a:off x="533759" y="1394852"/>
            <a:ext cx="11595487" cy="1384995"/>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 = https://</a:t>
            </a:r>
            <a:r>
              <a:rPr lang="en-US" sz="1200" dirty="0" err="1">
                <a:solidFill>
                  <a:srgbClr val="014C89"/>
                </a:solidFill>
                <a:latin typeface="Consolas" panose="020B0609020204030204" pitchFamily="49" charset="0"/>
                <a:cs typeface="Consolas" panose="020B0609020204030204" pitchFamily="49" charset="0"/>
              </a:rPr>
              <a:t>graph.microsoft.com</a:t>
            </a:r>
            <a:r>
              <a:rPr lang="en-US" sz="1200" dirty="0">
                <a:solidFill>
                  <a:srgbClr val="014C89"/>
                </a:solidFill>
                <a:latin typeface="Consolas" panose="020B0609020204030204" pitchFamily="49" charset="0"/>
                <a:cs typeface="Consolas" panose="020B0609020204030204" pitchFamily="49" charset="0"/>
              </a:rPr>
              <a:t>/beta</a:t>
            </a: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configurationDrift_Id</a:t>
            </a:r>
            <a:r>
              <a:rPr lang="en-US" sz="1200" dirty="0">
                <a:solidFill>
                  <a:srgbClr val="014C89"/>
                </a:solidFill>
                <a:latin typeface="Consolas" panose="020B0609020204030204" pitchFamily="49" charset="0"/>
                <a:cs typeface="Consolas" panose="020B0609020204030204" pitchFamily="49" charset="0"/>
              </a:rPr>
              <a:t> = 1e7e0347-e7a5-4294-abab-c28b52e889e7</a:t>
            </a:r>
          </a:p>
          <a:p>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 = {{</a:t>
            </a:r>
            <a:r>
              <a:rPr lang="en-US" sz="1200" dirty="0" err="1">
                <a:solidFill>
                  <a:srgbClr val="014C89"/>
                </a:solidFill>
                <a:latin typeface="Consolas" panose="020B0609020204030204" pitchFamily="49" charset="0"/>
                <a:cs typeface="Consolas" panose="020B0609020204030204" pitchFamily="49" charset="0"/>
              </a:rPr>
              <a:t>accessToken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a:p>
            <a:r>
              <a:rPr lang="en-US" sz="1200" dirty="0">
                <a:solidFill>
                  <a:srgbClr val="014C89"/>
                </a:solidFill>
                <a:latin typeface="Consolas" panose="020B0609020204030204" pitchFamily="49" charset="0"/>
                <a:cs typeface="Consolas" panose="020B0609020204030204" pitchFamily="49" charset="0"/>
              </a:rPr>
              <a:t>GET {{</a:t>
            </a:r>
            <a:r>
              <a:rPr lang="en-US" sz="1200" dirty="0" err="1">
                <a:solidFill>
                  <a:srgbClr val="014C89"/>
                </a:solidFill>
                <a:latin typeface="Consolas" panose="020B0609020204030204" pitchFamily="49" charset="0"/>
                <a:cs typeface="Consolas" panose="020B0609020204030204" pitchFamily="49" charset="0"/>
              </a:rPr>
              <a:t>baseUrl</a:t>
            </a:r>
            <a:r>
              <a:rPr lang="en-US" sz="1200" dirty="0">
                <a:solidFill>
                  <a:srgbClr val="014C89"/>
                </a:solidFill>
                <a:latin typeface="Consolas" panose="020B0609020204030204" pitchFamily="49" charset="0"/>
                <a:cs typeface="Consolas" panose="020B0609020204030204" pitchFamily="49" charset="0"/>
              </a:rPr>
              <a:t>}}/admin/</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configurationDrifts</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configurationDrift_Id</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Authorization: Bearer {{</a:t>
            </a:r>
            <a:r>
              <a:rPr lang="en-US" sz="1200" dirty="0" err="1">
                <a:solidFill>
                  <a:srgbClr val="014C89"/>
                </a:solidFill>
                <a:latin typeface="Consolas" panose="020B0609020204030204" pitchFamily="49" charset="0"/>
                <a:cs typeface="Consolas" panose="020B0609020204030204" pitchFamily="49" charset="0"/>
              </a:rPr>
              <a:t>access_token</a:t>
            </a:r>
            <a:r>
              <a:rPr lang="en-US" sz="1200" dirty="0">
                <a:solidFill>
                  <a:srgbClr val="014C89"/>
                </a:solidFill>
                <a:latin typeface="Consolas" panose="020B0609020204030204" pitchFamily="49" charset="0"/>
                <a:cs typeface="Consolas" panose="020B0609020204030204" pitchFamily="49" charset="0"/>
              </a:rPr>
              <a:t>}}</a:t>
            </a:r>
          </a:p>
          <a:p>
            <a:endParaRPr lang="en-US" sz="1200" dirty="0">
              <a:solidFill>
                <a:srgbClr val="014C89"/>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47832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50B48F4E-1DAA-F9E2-4DDA-9CB2AFD2B3B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3A7D081-3460-BC86-B6BB-5BFA08421DC0}"/>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Drifts</a:t>
            </a:r>
          </a:p>
        </p:txBody>
      </p:sp>
      <p:cxnSp>
        <p:nvCxnSpPr>
          <p:cNvPr id="5" name="Straight Connector 4">
            <a:extLst>
              <a:ext uri="{FF2B5EF4-FFF2-40B4-BE49-F238E27FC236}">
                <a16:creationId xmlns:a16="http://schemas.microsoft.com/office/drawing/2014/main" id="{E99820A2-BD2D-83E3-7448-F978E56EB386}"/>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97618D4-2FAE-BC22-A6BD-1FF9C946328E}"/>
              </a:ext>
            </a:extLst>
          </p:cNvPr>
          <p:cNvSpPr txBox="1"/>
          <p:nvPr/>
        </p:nvSpPr>
        <p:spPr>
          <a:xfrm>
            <a:off x="533759" y="1394852"/>
            <a:ext cx="11595487" cy="4708981"/>
          </a:xfrm>
          <a:prstGeom prst="rect">
            <a:avLst/>
          </a:prstGeom>
          <a:noFill/>
        </p:spPr>
        <p:txBody>
          <a:bodyPr wrap="square" rtlCol="0">
            <a:spAutoFit/>
          </a:bodyPr>
          <a:lstStyle/>
          <a:p>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odata.context</a:t>
            </a:r>
            <a:r>
              <a:rPr lang="en-US" sz="1200" dirty="0">
                <a:solidFill>
                  <a:srgbClr val="014C89"/>
                </a:solidFill>
                <a:latin typeface="Consolas" panose="020B0609020204030204" pitchFamily="49" charset="0"/>
                <a:cs typeface="Consolas" panose="020B0609020204030204" pitchFamily="49" charset="0"/>
              </a:rPr>
              <a:t>": "https://</a:t>
            </a:r>
            <a:r>
              <a:rPr lang="en-US" sz="1200" dirty="0" err="1">
                <a:solidFill>
                  <a:srgbClr val="014C89"/>
                </a:solidFill>
                <a:latin typeface="Consolas" panose="020B0609020204030204" pitchFamily="49" charset="0"/>
                <a:cs typeface="Consolas" panose="020B0609020204030204" pitchFamily="49" charset="0"/>
              </a:rPr>
              <a:t>graph.microsoft.com</a:t>
            </a:r>
            <a:r>
              <a:rPr lang="en-US" sz="1200" dirty="0">
                <a:solidFill>
                  <a:srgbClr val="014C89"/>
                </a:solidFill>
                <a:latin typeface="Consolas" panose="020B0609020204030204" pitchFamily="49" charset="0"/>
                <a:cs typeface="Consolas" panose="020B0609020204030204" pitchFamily="49" charset="0"/>
              </a:rPr>
              <a:t>/beta/$</a:t>
            </a:r>
            <a:r>
              <a:rPr lang="en-US" sz="1200" dirty="0" err="1">
                <a:solidFill>
                  <a:srgbClr val="014C89"/>
                </a:solidFill>
                <a:latin typeface="Consolas" panose="020B0609020204030204" pitchFamily="49" charset="0"/>
                <a:cs typeface="Consolas" panose="020B0609020204030204" pitchFamily="49" charset="0"/>
              </a:rPr>
              <a:t>metadata#admin</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configurationManagement</a:t>
            </a:r>
            <a:r>
              <a:rPr lang="en-US" sz="1200" dirty="0">
                <a:solidFill>
                  <a:srgbClr val="014C89"/>
                </a:solidFill>
                <a:latin typeface="Consolas" panose="020B0609020204030204" pitchFamily="49" charset="0"/>
                <a:cs typeface="Consolas" panose="020B0609020204030204" pitchFamily="49" charset="0"/>
              </a:rPr>
              <a:t>/</a:t>
            </a:r>
            <a:r>
              <a:rPr lang="en-US" sz="1200" dirty="0" err="1">
                <a:solidFill>
                  <a:srgbClr val="014C89"/>
                </a:solidFill>
                <a:latin typeface="Consolas" panose="020B0609020204030204" pitchFamily="49" charset="0"/>
                <a:cs typeface="Consolas" panose="020B0609020204030204" pitchFamily="49" charset="0"/>
              </a:rPr>
              <a:t>configurationDrifts</a:t>
            </a:r>
            <a:r>
              <a:rPr lang="en-US" sz="1200" dirty="0">
                <a:solidFill>
                  <a:srgbClr val="014C89"/>
                </a:solidFill>
                <a:latin typeface="Consolas" panose="020B0609020204030204" pitchFamily="49" charset="0"/>
                <a:cs typeface="Consolas" panose="020B0609020204030204" pitchFamily="49" charset="0"/>
              </a:rPr>
              <a:t>/$entity",</a:t>
            </a:r>
          </a:p>
          <a:p>
            <a:r>
              <a:rPr lang="en-US" sz="1200" dirty="0">
                <a:solidFill>
                  <a:srgbClr val="014C89"/>
                </a:solidFill>
                <a:latin typeface="Consolas" panose="020B0609020204030204" pitchFamily="49" charset="0"/>
                <a:cs typeface="Consolas" panose="020B0609020204030204" pitchFamily="49" charset="0"/>
              </a:rPr>
              <a:t>  "id": "1e7e0347-e7a5-4294-abab-c28b52e889e7",</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monitorId</a:t>
            </a:r>
            <a:r>
              <a:rPr lang="en-US" sz="1200" dirty="0">
                <a:solidFill>
                  <a:srgbClr val="014C89"/>
                </a:solidFill>
                <a:latin typeface="Consolas" panose="020B0609020204030204" pitchFamily="49" charset="0"/>
                <a:cs typeface="Consolas" panose="020B0609020204030204" pitchFamily="49" charset="0"/>
              </a:rPr>
              <a:t>": "fb708914-be65-4fda-a01e-77c4b2b7c403",</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tenantId</a:t>
            </a:r>
            <a:r>
              <a:rPr lang="en-US" sz="1200" dirty="0">
                <a:solidFill>
                  <a:srgbClr val="014C89"/>
                </a:solidFill>
                <a:latin typeface="Consolas" panose="020B0609020204030204" pitchFamily="49" charset="0"/>
                <a:cs typeface="Consolas" panose="020B0609020204030204" pitchFamily="49" charset="0"/>
              </a:rPr>
              <a:t>": "6438b2c9-54e9-4fce-9851-f00c24b5dc1f",</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resourceType</a:t>
            </a:r>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microsoft.entra.user</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baselineResourceDisplayName</a:t>
            </a:r>
            <a:r>
              <a:rPr lang="en-US" sz="1200" dirty="0">
                <a:solidFill>
                  <a:srgbClr val="014C89"/>
                </a:solidFill>
                <a:latin typeface="Consolas" panose="020B0609020204030204" pitchFamily="49" charset="0"/>
                <a:cs typeface="Consolas" panose="020B0609020204030204" pitchFamily="49" charset="0"/>
              </a:rPr>
              <a:t>": "Config Drift Bradley Wyatt Entra User",</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firstReportedDateTime</a:t>
            </a:r>
            <a:r>
              <a:rPr lang="en-US" sz="1200" dirty="0">
                <a:solidFill>
                  <a:srgbClr val="014C89"/>
                </a:solidFill>
                <a:latin typeface="Consolas" panose="020B0609020204030204" pitchFamily="49" charset="0"/>
                <a:cs typeface="Consolas" panose="020B0609020204030204" pitchFamily="49" charset="0"/>
              </a:rPr>
              <a:t>": "2026-03-03T06:02:05.3556422Z",</a:t>
            </a:r>
          </a:p>
          <a:p>
            <a:r>
              <a:rPr lang="en-US" sz="1200" dirty="0">
                <a:solidFill>
                  <a:srgbClr val="014C89"/>
                </a:solidFill>
                <a:latin typeface="Consolas" panose="020B0609020204030204" pitchFamily="49" charset="0"/>
                <a:cs typeface="Consolas" panose="020B0609020204030204" pitchFamily="49" charset="0"/>
              </a:rPr>
              <a:t>  "status": "active",</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resourceInstanceIdentifier</a:t>
            </a:r>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UserPrincipalName</a:t>
            </a:r>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brad@thelazyadministrator.com</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driftedProperties</a:t>
            </a:r>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propertyName</a:t>
            </a:r>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LicenseAssignment</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currentValue</a:t>
            </a:r>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"CCIBOTS_PRIVPREV_VIRAL",</a:t>
            </a:r>
          </a:p>
          <a:p>
            <a:r>
              <a:rPr lang="en-US" sz="1200" dirty="0">
                <a:solidFill>
                  <a:srgbClr val="014C89"/>
                </a:solidFill>
                <a:latin typeface="Consolas" panose="020B0609020204030204" pitchFamily="49" charset="0"/>
                <a:cs typeface="Consolas" panose="020B0609020204030204" pitchFamily="49" charset="0"/>
              </a:rPr>
              <a:t>        "Microsoft_365_E5_(</a:t>
            </a:r>
            <a:r>
              <a:rPr lang="en-US" sz="1200" dirty="0" err="1">
                <a:solidFill>
                  <a:srgbClr val="014C89"/>
                </a:solidFill>
                <a:latin typeface="Consolas" panose="020B0609020204030204" pitchFamily="49" charset="0"/>
                <a:cs typeface="Consolas" panose="020B0609020204030204" pitchFamily="49" charset="0"/>
              </a:rPr>
              <a:t>no_Teams</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r>
              <a:rPr lang="en-US" sz="1200" dirty="0" err="1">
                <a:solidFill>
                  <a:srgbClr val="014C89"/>
                </a:solidFill>
                <a:latin typeface="Consolas" panose="020B0609020204030204" pitchFamily="49" charset="0"/>
                <a:cs typeface="Consolas" panose="020B0609020204030204" pitchFamily="49" charset="0"/>
              </a:rPr>
              <a:t>desiredValue</a:t>
            </a:r>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"Microsoft_365_E5_(</a:t>
            </a:r>
            <a:r>
              <a:rPr lang="en-US" sz="1200" dirty="0" err="1">
                <a:solidFill>
                  <a:srgbClr val="014C89"/>
                </a:solidFill>
                <a:latin typeface="Consolas" panose="020B0609020204030204" pitchFamily="49" charset="0"/>
                <a:cs typeface="Consolas" panose="020B0609020204030204" pitchFamily="49" charset="0"/>
              </a:rPr>
              <a:t>no_Teams</a:t>
            </a:r>
            <a:r>
              <a:rPr lang="en-US" sz="1200" dirty="0">
                <a:solidFill>
                  <a:srgbClr val="014C89"/>
                </a:solidFill>
                <a:latin typeface="Consolas" panose="020B0609020204030204" pitchFamily="49" charset="0"/>
                <a:cs typeface="Consolas" panose="020B0609020204030204" pitchFamily="49" charset="0"/>
              </a:rPr>
              <a:t>)"</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  ]</a:t>
            </a:r>
          </a:p>
          <a:p>
            <a:r>
              <a:rPr lang="en-US" sz="1200" dirty="0">
                <a:solidFill>
                  <a:srgbClr val="014C89"/>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738786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162901EC-2117-0811-59CD-6938E659678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C5C4CBA-91FE-0CAD-57A8-8C26C414E769}"/>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Future State</a:t>
            </a:r>
          </a:p>
        </p:txBody>
      </p:sp>
      <p:cxnSp>
        <p:nvCxnSpPr>
          <p:cNvPr id="5" name="Straight Connector 4">
            <a:extLst>
              <a:ext uri="{FF2B5EF4-FFF2-40B4-BE49-F238E27FC236}">
                <a16:creationId xmlns:a16="http://schemas.microsoft.com/office/drawing/2014/main" id="{644D375D-A3AC-43B7-A7C0-550D93DFCC4C}"/>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5588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BEF4AF86-430D-5893-EC27-3DF07036800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F27ACBF-AE29-E46C-46F0-4E6BEC004E23}"/>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Future State</a:t>
            </a:r>
          </a:p>
        </p:txBody>
      </p:sp>
      <p:cxnSp>
        <p:nvCxnSpPr>
          <p:cNvPr id="5" name="Straight Connector 4">
            <a:extLst>
              <a:ext uri="{FF2B5EF4-FFF2-40B4-BE49-F238E27FC236}">
                <a16:creationId xmlns:a16="http://schemas.microsoft.com/office/drawing/2014/main" id="{9FE95A9A-02C8-459B-7A9B-2BC9FE0B8CEC}"/>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5ACD512-1116-9F35-DABB-F303E706503F}"/>
              </a:ext>
            </a:extLst>
          </p:cNvPr>
          <p:cNvSpPr txBox="1"/>
          <p:nvPr/>
        </p:nvSpPr>
        <p:spPr>
          <a:xfrm>
            <a:off x="614445" y="1524000"/>
            <a:ext cx="11344473" cy="2545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rgbClr val="014C89"/>
                </a:solidFill>
              </a:rPr>
              <a:t>Come out of Beta</a:t>
            </a:r>
          </a:p>
          <a:p>
            <a:pPr marL="285750" indent="-285750">
              <a:lnSpc>
                <a:spcPct val="150000"/>
              </a:lnSpc>
              <a:buFont typeface="Arial" panose="020B0604020202020204" pitchFamily="34" charset="0"/>
              <a:buChar char="•"/>
            </a:pPr>
            <a:r>
              <a:rPr lang="en-US" dirty="0">
                <a:solidFill>
                  <a:srgbClr val="014C89"/>
                </a:solidFill>
              </a:rPr>
              <a:t>Auto creation of the service principal</a:t>
            </a:r>
          </a:p>
          <a:p>
            <a:pPr marL="285750" indent="-285750">
              <a:lnSpc>
                <a:spcPct val="150000"/>
              </a:lnSpc>
              <a:buFont typeface="Arial" panose="020B0604020202020204" pitchFamily="34" charset="0"/>
              <a:buChar char="•"/>
            </a:pPr>
            <a:r>
              <a:rPr lang="en-US" dirty="0">
                <a:solidFill>
                  <a:srgbClr val="014C89"/>
                </a:solidFill>
              </a:rPr>
              <a:t>Auto-remediation</a:t>
            </a:r>
          </a:p>
          <a:p>
            <a:pPr marL="285750" indent="-285750">
              <a:lnSpc>
                <a:spcPct val="150000"/>
              </a:lnSpc>
              <a:buFont typeface="Arial" panose="020B0604020202020204" pitchFamily="34" charset="0"/>
              <a:buChar char="•"/>
            </a:pPr>
            <a:r>
              <a:rPr lang="en-US" dirty="0">
                <a:solidFill>
                  <a:srgbClr val="014C89"/>
                </a:solidFill>
              </a:rPr>
              <a:t>More schedules besides every 6hrs </a:t>
            </a:r>
          </a:p>
          <a:p>
            <a:pPr marL="285750" indent="-285750">
              <a:lnSpc>
                <a:spcPct val="150000"/>
              </a:lnSpc>
              <a:buFont typeface="Arial" panose="020B0604020202020204" pitchFamily="34" charset="0"/>
              <a:buChar char="•"/>
            </a:pPr>
            <a:r>
              <a:rPr lang="en-US" dirty="0">
                <a:solidFill>
                  <a:srgbClr val="014C89"/>
                </a:solidFill>
              </a:rPr>
              <a:t>Increase monitors per tenant from 30</a:t>
            </a:r>
          </a:p>
          <a:p>
            <a:pPr marL="285750" indent="-285750">
              <a:lnSpc>
                <a:spcPct val="150000"/>
              </a:lnSpc>
              <a:buFont typeface="Arial" panose="020B0604020202020204" pitchFamily="34" charset="0"/>
              <a:buChar char="•"/>
            </a:pPr>
            <a:r>
              <a:rPr lang="en-US" dirty="0">
                <a:solidFill>
                  <a:srgbClr val="014C89"/>
                </a:solidFill>
              </a:rPr>
              <a:t>Alerting or notifications </a:t>
            </a:r>
          </a:p>
        </p:txBody>
      </p:sp>
    </p:spTree>
    <p:extLst>
      <p:ext uri="{BB962C8B-B14F-4D97-AF65-F5344CB8AC3E}">
        <p14:creationId xmlns:p14="http://schemas.microsoft.com/office/powerpoint/2010/main" val="587834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FABFE546-3587-DB7D-B61C-1A750942D08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47ACF44-7068-9E97-EF8F-D129B2E42811}"/>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Management &amp; Configuration</a:t>
            </a:r>
          </a:p>
        </p:txBody>
      </p:sp>
      <p:cxnSp>
        <p:nvCxnSpPr>
          <p:cNvPr id="5" name="Straight Connector 4">
            <a:extLst>
              <a:ext uri="{FF2B5EF4-FFF2-40B4-BE49-F238E27FC236}">
                <a16:creationId xmlns:a16="http://schemas.microsoft.com/office/drawing/2014/main" id="{724FEB12-C6D9-7A12-6A56-55EB86C47BAD}"/>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8248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BAFEEB04-C87E-08A8-5616-D1F2DAB3DCD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C7D3951-79A0-2C50-5D26-137120D55BC4}"/>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Management and Configuration</a:t>
            </a:r>
          </a:p>
        </p:txBody>
      </p:sp>
      <p:cxnSp>
        <p:nvCxnSpPr>
          <p:cNvPr id="5" name="Straight Connector 4">
            <a:extLst>
              <a:ext uri="{FF2B5EF4-FFF2-40B4-BE49-F238E27FC236}">
                <a16:creationId xmlns:a16="http://schemas.microsoft.com/office/drawing/2014/main" id="{9B0FC7CF-879D-792D-8E0F-8D05F573F3CF}"/>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7CA29DB-9570-797A-8E17-8820591E22D6}"/>
              </a:ext>
            </a:extLst>
          </p:cNvPr>
          <p:cNvSpPr txBox="1"/>
          <p:nvPr/>
        </p:nvSpPr>
        <p:spPr>
          <a:xfrm>
            <a:off x="614445" y="1524000"/>
            <a:ext cx="11344473" cy="129888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err="1">
                <a:solidFill>
                  <a:srgbClr val="014C89"/>
                </a:solidFill>
              </a:rPr>
              <a:t>TenantBaseline</a:t>
            </a:r>
            <a:r>
              <a:rPr lang="en-US" dirty="0">
                <a:solidFill>
                  <a:srgbClr val="014C89"/>
                </a:solidFill>
              </a:rPr>
              <a:t> PowerShell Module</a:t>
            </a:r>
          </a:p>
          <a:p>
            <a:pPr marL="285750" indent="-285750">
              <a:lnSpc>
                <a:spcPct val="150000"/>
              </a:lnSpc>
              <a:buFont typeface="Arial" panose="020B0604020202020204" pitchFamily="34" charset="0"/>
              <a:buChar char="•"/>
            </a:pPr>
            <a:r>
              <a:rPr lang="en-US" dirty="0">
                <a:solidFill>
                  <a:srgbClr val="014C89"/>
                </a:solidFill>
              </a:rPr>
              <a:t>REST Clients (</a:t>
            </a:r>
            <a:r>
              <a:rPr lang="en-US" dirty="0" err="1">
                <a:solidFill>
                  <a:srgbClr val="014C89"/>
                </a:solidFill>
              </a:rPr>
              <a:t>VSCode</a:t>
            </a:r>
            <a:r>
              <a:rPr lang="en-US" dirty="0">
                <a:solidFill>
                  <a:srgbClr val="014C89"/>
                </a:solidFill>
              </a:rPr>
              <a:t> REST Client, Postman, </a:t>
            </a:r>
            <a:r>
              <a:rPr lang="en-US" dirty="0" err="1">
                <a:solidFill>
                  <a:srgbClr val="014C89"/>
                </a:solidFill>
              </a:rPr>
              <a:t>etc</a:t>
            </a:r>
            <a:r>
              <a:rPr lang="en-US" dirty="0">
                <a:solidFill>
                  <a:srgbClr val="014C89"/>
                </a:solidFill>
              </a:rPr>
              <a:t>)</a:t>
            </a:r>
          </a:p>
          <a:p>
            <a:pPr marL="285750" indent="-285750">
              <a:lnSpc>
                <a:spcPct val="150000"/>
              </a:lnSpc>
              <a:buFont typeface="Arial" panose="020B0604020202020204" pitchFamily="34" charset="0"/>
              <a:buChar char="•"/>
            </a:pPr>
            <a:r>
              <a:rPr lang="en-US" dirty="0">
                <a:solidFill>
                  <a:srgbClr val="014C89"/>
                </a:solidFill>
              </a:rPr>
              <a:t>Microsoft Graph PowerShell SDK</a:t>
            </a:r>
          </a:p>
        </p:txBody>
      </p:sp>
    </p:spTree>
    <p:extLst>
      <p:ext uri="{BB962C8B-B14F-4D97-AF65-F5344CB8AC3E}">
        <p14:creationId xmlns:p14="http://schemas.microsoft.com/office/powerpoint/2010/main" val="1495760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780C324B-E515-3DF8-F059-3FF0EF5E4AD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20735EC-18D4-BEBA-6D2D-D8F9E0128BCC}"/>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Management and Configuration</a:t>
            </a:r>
          </a:p>
        </p:txBody>
      </p:sp>
      <p:cxnSp>
        <p:nvCxnSpPr>
          <p:cNvPr id="5" name="Straight Connector 4">
            <a:extLst>
              <a:ext uri="{FF2B5EF4-FFF2-40B4-BE49-F238E27FC236}">
                <a16:creationId xmlns:a16="http://schemas.microsoft.com/office/drawing/2014/main" id="{15E487EC-B3BD-2243-EB0E-E5F3E96A4B70}"/>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0D9E0409-8328-C746-2E86-4B2AA4BF8C81}"/>
              </a:ext>
            </a:extLst>
          </p:cNvPr>
          <p:cNvPicPr>
            <a:picLocks noChangeAspect="1"/>
          </p:cNvPicPr>
          <p:nvPr/>
        </p:nvPicPr>
        <p:blipFill>
          <a:blip r:embed="rId4"/>
          <a:stretch>
            <a:fillRect/>
          </a:stretch>
        </p:blipFill>
        <p:spPr>
          <a:xfrm>
            <a:off x="5050094" y="1129554"/>
            <a:ext cx="6527461" cy="5311424"/>
          </a:xfrm>
          <a:prstGeom prst="rect">
            <a:avLst/>
          </a:prstGeom>
        </p:spPr>
      </p:pic>
      <p:sp>
        <p:nvSpPr>
          <p:cNvPr id="6" name="TextBox 5">
            <a:extLst>
              <a:ext uri="{FF2B5EF4-FFF2-40B4-BE49-F238E27FC236}">
                <a16:creationId xmlns:a16="http://schemas.microsoft.com/office/drawing/2014/main" id="{BBA13A1B-3DD3-CED1-B63D-4F6ED3F5B3BD}"/>
              </a:ext>
            </a:extLst>
          </p:cNvPr>
          <p:cNvSpPr txBox="1"/>
          <p:nvPr/>
        </p:nvSpPr>
        <p:spPr>
          <a:xfrm>
            <a:off x="614443" y="1532965"/>
            <a:ext cx="4020310" cy="254537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solidFill>
                  <a:srgbClr val="014C89"/>
                </a:solidFill>
              </a:rPr>
              <a:t>Import/Export Configurations</a:t>
            </a:r>
          </a:p>
          <a:p>
            <a:pPr marL="285750" indent="-285750">
              <a:lnSpc>
                <a:spcPct val="150000"/>
              </a:lnSpc>
              <a:buFont typeface="Arial" panose="020B0604020202020204" pitchFamily="34" charset="0"/>
              <a:buChar char="•"/>
            </a:pPr>
            <a:r>
              <a:rPr lang="en-US" dirty="0">
                <a:solidFill>
                  <a:srgbClr val="014C89"/>
                </a:solidFill>
              </a:rPr>
              <a:t>Create Dashboards</a:t>
            </a:r>
          </a:p>
          <a:p>
            <a:pPr marL="285750" indent="-285750">
              <a:lnSpc>
                <a:spcPct val="150000"/>
              </a:lnSpc>
              <a:buFont typeface="Arial" panose="020B0604020202020204" pitchFamily="34" charset="0"/>
              <a:buChar char="•"/>
            </a:pPr>
            <a:r>
              <a:rPr lang="en-US" dirty="0">
                <a:solidFill>
                  <a:srgbClr val="014C89"/>
                </a:solidFill>
              </a:rPr>
              <a:t>Create monitors based on Maester</a:t>
            </a:r>
          </a:p>
          <a:p>
            <a:pPr marL="285750" indent="-285750">
              <a:lnSpc>
                <a:spcPct val="150000"/>
              </a:lnSpc>
              <a:buFont typeface="Arial" panose="020B0604020202020204" pitchFamily="34" charset="0"/>
              <a:buChar char="•"/>
            </a:pPr>
            <a:r>
              <a:rPr lang="en-US" dirty="0">
                <a:solidFill>
                  <a:srgbClr val="014C89"/>
                </a:solidFill>
              </a:rPr>
              <a:t>Auto set up permissions</a:t>
            </a:r>
          </a:p>
          <a:p>
            <a:pPr marL="285750" indent="-285750">
              <a:lnSpc>
                <a:spcPct val="150000"/>
              </a:lnSpc>
              <a:buFont typeface="Arial" panose="020B0604020202020204" pitchFamily="34" charset="0"/>
              <a:buChar char="•"/>
            </a:pPr>
            <a:r>
              <a:rPr lang="en-US" dirty="0">
                <a:solidFill>
                  <a:srgbClr val="014C89"/>
                </a:solidFill>
              </a:rPr>
              <a:t>Integrate with Automation</a:t>
            </a:r>
          </a:p>
          <a:p>
            <a:pPr marL="285750" indent="-285750">
              <a:lnSpc>
                <a:spcPct val="150000"/>
              </a:lnSpc>
              <a:buFont typeface="Arial" panose="020B0604020202020204" pitchFamily="34" charset="0"/>
              <a:buChar char="•"/>
            </a:pPr>
            <a:r>
              <a:rPr lang="en-US" dirty="0">
                <a:solidFill>
                  <a:srgbClr val="014C89"/>
                </a:solidFill>
              </a:rPr>
              <a:t>Clone monitors</a:t>
            </a:r>
          </a:p>
        </p:txBody>
      </p:sp>
    </p:spTree>
    <p:extLst>
      <p:ext uri="{BB962C8B-B14F-4D97-AF65-F5344CB8AC3E}">
        <p14:creationId xmlns:p14="http://schemas.microsoft.com/office/powerpoint/2010/main" val="3155290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3F7C56AE-2CA4-9481-7422-3772DBDDE47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15342D9-1008-140F-1F15-A35FAA53C25F}"/>
              </a:ext>
            </a:extLst>
          </p:cNvPr>
          <p:cNvSpPr txBox="1">
            <a:spLocks/>
          </p:cNvSpPr>
          <p:nvPr/>
        </p:nvSpPr>
        <p:spPr>
          <a:xfrm>
            <a:off x="614443" y="-101040"/>
            <a:ext cx="10492827"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400" dirty="0">
                <a:solidFill>
                  <a:srgbClr val="014C89"/>
                </a:solidFill>
              </a:rPr>
              <a:t>Management and Configuration</a:t>
            </a:r>
          </a:p>
        </p:txBody>
      </p:sp>
      <p:cxnSp>
        <p:nvCxnSpPr>
          <p:cNvPr id="5" name="Straight Connector 4">
            <a:extLst>
              <a:ext uri="{FF2B5EF4-FFF2-40B4-BE49-F238E27FC236}">
                <a16:creationId xmlns:a16="http://schemas.microsoft.com/office/drawing/2014/main" id="{25D5A57E-8608-4E89-FC78-99CC60EFC781}"/>
              </a:ext>
            </a:extLst>
          </p:cNvPr>
          <p:cNvCxnSpPr>
            <a:cxnSpLocks/>
          </p:cNvCxnSpPr>
          <p:nvPr/>
        </p:nvCxnSpPr>
        <p:spPr>
          <a:xfrm>
            <a:off x="614445" y="1309687"/>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A951CBA-0533-36F8-83D5-C9D5AB68B3E7}"/>
              </a:ext>
            </a:extLst>
          </p:cNvPr>
          <p:cNvSpPr txBox="1"/>
          <p:nvPr/>
        </p:nvSpPr>
        <p:spPr>
          <a:xfrm>
            <a:off x="614445" y="1524000"/>
            <a:ext cx="11344473" cy="8833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err="1">
                <a:solidFill>
                  <a:srgbClr val="014C89"/>
                </a:solidFill>
              </a:rPr>
              <a:t>Github.com</a:t>
            </a:r>
            <a:r>
              <a:rPr lang="en-US" dirty="0">
                <a:solidFill>
                  <a:srgbClr val="014C89"/>
                </a:solidFill>
              </a:rPr>
              <a:t>/bwya77/</a:t>
            </a:r>
            <a:r>
              <a:rPr lang="en-US" dirty="0" err="1">
                <a:solidFill>
                  <a:srgbClr val="014C89"/>
                </a:solidFill>
              </a:rPr>
              <a:t>UTCM_Presentation</a:t>
            </a:r>
            <a:endParaRPr lang="en-US" dirty="0">
              <a:solidFill>
                <a:srgbClr val="014C89"/>
              </a:solidFill>
            </a:endParaRPr>
          </a:p>
          <a:p>
            <a:pPr marL="285750" indent="-285750">
              <a:lnSpc>
                <a:spcPct val="150000"/>
              </a:lnSpc>
              <a:buFont typeface="Arial" panose="020B0604020202020204" pitchFamily="34" charset="0"/>
              <a:buChar char="•"/>
            </a:pPr>
            <a:r>
              <a:rPr lang="en-US" dirty="0">
                <a:solidFill>
                  <a:srgbClr val="014C89"/>
                </a:solidFill>
              </a:rPr>
              <a:t>https://office365itpros.com/2026/02/03/</a:t>
            </a:r>
            <a:r>
              <a:rPr lang="en-US" dirty="0" err="1">
                <a:solidFill>
                  <a:srgbClr val="014C89"/>
                </a:solidFill>
              </a:rPr>
              <a:t>utcm</a:t>
            </a:r>
            <a:r>
              <a:rPr lang="en-US" dirty="0">
                <a:solidFill>
                  <a:srgbClr val="014C89"/>
                </a:solidFill>
              </a:rPr>
              <a:t>-beta/</a:t>
            </a:r>
          </a:p>
        </p:txBody>
      </p:sp>
    </p:spTree>
    <p:extLst>
      <p:ext uri="{BB962C8B-B14F-4D97-AF65-F5344CB8AC3E}">
        <p14:creationId xmlns:p14="http://schemas.microsoft.com/office/powerpoint/2010/main" val="2865136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4000"/>
            <a:lum/>
          </a:blip>
          <a:srcRect/>
          <a:stretch>
            <a:fillRect l="-49000" r="-37000"/>
          </a:stretch>
        </a:blipFill>
        <a:effectLst/>
      </p:bgPr>
    </p:bg>
    <p:spTree>
      <p:nvGrpSpPr>
        <p:cNvPr id="1" name="">
          <a:extLst>
            <a:ext uri="{FF2B5EF4-FFF2-40B4-BE49-F238E27FC236}">
              <a16:creationId xmlns:a16="http://schemas.microsoft.com/office/drawing/2014/main" id="{16B660AD-F538-795D-1541-C755FE33396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BAA4FD8-69CC-3664-D38F-DC3F3D98FF3B}"/>
              </a:ext>
            </a:extLst>
          </p:cNvPr>
          <p:cNvSpPr txBox="1">
            <a:spLocks/>
          </p:cNvSpPr>
          <p:nvPr/>
        </p:nvSpPr>
        <p:spPr>
          <a:xfrm>
            <a:off x="0" y="2103437"/>
            <a:ext cx="121920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solidFill>
                  <a:srgbClr val="014C89"/>
                </a:solidFill>
              </a:rPr>
              <a:t>Thank You</a:t>
            </a:r>
          </a:p>
        </p:txBody>
      </p:sp>
      <p:cxnSp>
        <p:nvCxnSpPr>
          <p:cNvPr id="5" name="Straight Connector 4">
            <a:extLst>
              <a:ext uri="{FF2B5EF4-FFF2-40B4-BE49-F238E27FC236}">
                <a16:creationId xmlns:a16="http://schemas.microsoft.com/office/drawing/2014/main" id="{F195CE91-BF91-8DF3-493F-E180E87A26BD}"/>
              </a:ext>
            </a:extLst>
          </p:cNvPr>
          <p:cNvCxnSpPr>
            <a:cxnSpLocks/>
          </p:cNvCxnSpPr>
          <p:nvPr/>
        </p:nvCxnSpPr>
        <p:spPr>
          <a:xfrm>
            <a:off x="4612703" y="3694299"/>
            <a:ext cx="2711461" cy="0"/>
          </a:xfrm>
          <a:prstGeom prst="line">
            <a:avLst/>
          </a:prstGeom>
          <a:ln w="9525">
            <a:solidFill>
              <a:srgbClr val="014C89"/>
            </a:solidFill>
          </a:ln>
          <a:effectLst>
            <a:outerShdw sx="1000" sy="1000" algn="ctr"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982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1226</TotalTime>
  <Words>2025</Words>
  <Application>Microsoft Macintosh PowerPoint</Application>
  <PresentationFormat>Widescreen</PresentationFormat>
  <Paragraphs>349</Paragraphs>
  <Slides>32</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Consolas</vt:lpstr>
      <vt:lpstr>Office Theme</vt:lpstr>
      <vt:lpstr>Unified Tenant Configuration Management APIs in Microsoft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Bradley Wyatt</dc:creator>
  <cp:lastModifiedBy>Bradley Wyatt</cp:lastModifiedBy>
  <cp:revision>5</cp:revision>
  <dcterms:created xsi:type="dcterms:W3CDTF">2026-03-18T18:10:27Z</dcterms:created>
  <dcterms:modified xsi:type="dcterms:W3CDTF">2026-03-19T14:37:01Z</dcterms:modified>
</cp:coreProperties>
</file>